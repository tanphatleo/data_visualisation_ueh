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charts/chart8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ppt/charts/chart9.xml" ContentType="application/vnd.openxmlformats-officedocument.drawingml.chart+xml"/>
  <Override PartName="/ppt/charts/style9.xml" ContentType="application/vnd.ms-office.chartstyle+xml"/>
  <Override PartName="/ppt/charts/colors9.xml" ContentType="application/vnd.ms-office.chartcolorstyle+xml"/>
  <Override PartName="/ppt/charts/chart10.xml" ContentType="application/vnd.openxmlformats-officedocument.drawingml.chart+xml"/>
  <Override PartName="/ppt/charts/style10.xml" ContentType="application/vnd.ms-office.chartstyle+xml"/>
  <Override PartName="/ppt/charts/colors10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D1A63"/>
    <a:srgbClr val="5B73C4"/>
    <a:srgbClr val="F6804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13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D:\projects\datat_visualisation\day_1\charts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file:///D:\projects\datat_visualisation\day_1\charts.xlsx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oleObject" Target="file:///D:\projects\datat_visualisation\day_1\charts.xlsx" TargetMode="External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oleObject" Target="file:///D:\projects\datat_visualisation\day_1\charts.xlsx" TargetMode="External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oleObject" Target="file:///D:\projects\datat_visualisation\day_1\charts.xlsx" TargetMode="External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oleObject" Target="file:///D:\projects\datat_visualisation\day_1\charts.xlsx" TargetMode="External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oleObject" Target="file:///D:\projects\datat_visualisation\day_1\charts.xlsx" TargetMode="External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oleObject" Target="file:///D:\projects\datat_visualisation\day_1\charts.xlsx" TargetMode="External"/><Relationship Id="rId2" Type="http://schemas.microsoft.com/office/2011/relationships/chartColorStyle" Target="colors8.xml"/><Relationship Id="rId1" Type="http://schemas.microsoft.com/office/2011/relationships/chartStyle" Target="style8.xml"/></Relationships>
</file>

<file path=ppt/charts/_rels/chart9.xml.rels><?xml version="1.0" encoding="UTF-8" standalone="yes"?>
<Relationships xmlns="http://schemas.openxmlformats.org/package/2006/relationships"><Relationship Id="rId3" Type="http://schemas.openxmlformats.org/officeDocument/2006/relationships/oleObject" Target="file:///D:\projects\datat_visualisation\day_1\charts.xlsx" TargetMode="External"/><Relationship Id="rId2" Type="http://schemas.microsoft.com/office/2011/relationships/chartColorStyle" Target="colors9.xml"/><Relationship Id="rId1" Type="http://schemas.microsoft.com/office/2011/relationships/chartStyle" Target="style9.xml"/></Relationships>
</file>

<file path=ppt/charts/_rels/chart10.xml.rels><?xml version="1.0" encoding="UTF-8" standalone="yes"?>
<Relationships xmlns="http://schemas.openxmlformats.org/package/2006/relationships"><Relationship Id="rId3" Type="http://schemas.openxmlformats.org/officeDocument/2006/relationships/oleObject" Target="file:///D:\projects\datat_visualisation\day_1\charts.xlsx" TargetMode="External"/><Relationship Id="rId2" Type="http://schemas.microsoft.com/office/2011/relationships/chartColorStyle" Target="colors10.xml"/><Relationship Id="rId1" Type="http://schemas.microsoft.com/office/2011/relationships/chartStyle" Target="style10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bar!$C$2</c:f>
              <c:strCache>
                <c:ptCount val="1"/>
                <c:pt idx="0">
                  <c:v>A</c:v>
                </c:pt>
              </c:strCache>
            </c:strRef>
          </c:tx>
          <c:spPr>
            <a:solidFill>
              <a:srgbClr val="0D1A63"/>
            </a:solidFill>
            <a:ln>
              <a:noFill/>
            </a:ln>
            <a:effectLst/>
          </c:spPr>
          <c:invertIfNegative val="0"/>
          <c:cat>
            <c:strRef>
              <c:f>bar!$B$3:$B$7</c:f>
              <c:strCache>
                <c:ptCount val="5"/>
                <c:pt idx="0">
                  <c:v>Cat 1</c:v>
                </c:pt>
                <c:pt idx="1">
                  <c:v>Cat 2</c:v>
                </c:pt>
                <c:pt idx="2">
                  <c:v>Cat 3</c:v>
                </c:pt>
                <c:pt idx="3">
                  <c:v>Cat 4</c:v>
                </c:pt>
                <c:pt idx="4">
                  <c:v>Cat 5</c:v>
                </c:pt>
              </c:strCache>
            </c:strRef>
          </c:cat>
          <c:val>
            <c:numRef>
              <c:f>bar!$C$3:$C$7</c:f>
              <c:numCache>
                <c:formatCode>General</c:formatCode>
                <c:ptCount val="5"/>
                <c:pt idx="0">
                  <c:v>1</c:v>
                </c:pt>
                <c:pt idx="1">
                  <c:v>5</c:v>
                </c:pt>
                <c:pt idx="2">
                  <c:v>7</c:v>
                </c:pt>
                <c:pt idx="3">
                  <c:v>8</c:v>
                </c:pt>
                <c:pt idx="4">
                  <c:v>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390-49BA-BD99-4E6462BB69C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overlap val="-27"/>
        <c:axId val="513599039"/>
        <c:axId val="513599519"/>
      </c:barChart>
      <c:catAx>
        <c:axId val="513599039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pPr>
            <a:endParaRPr lang="en-US"/>
          </a:p>
        </c:txPr>
        <c:crossAx val="513599519"/>
        <c:crosses val="autoZero"/>
        <c:auto val="1"/>
        <c:lblAlgn val="ctr"/>
        <c:lblOffset val="100"/>
        <c:noMultiLvlLbl val="0"/>
      </c:catAx>
      <c:valAx>
        <c:axId val="513599519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pPr>
            <a:endParaRPr lang="en-US"/>
          </a:p>
        </c:txPr>
        <c:crossAx val="51359903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 w="9525" cap="flat" cmpd="sng" algn="ctr">
      <a:noFill/>
      <a:round/>
    </a:ln>
    <a:effectLst/>
  </c:spPr>
  <c:txPr>
    <a:bodyPr/>
    <a:lstStyle/>
    <a:p>
      <a:pPr>
        <a:defRPr>
          <a:latin typeface="Roboto" panose="02000000000000000000" pitchFamily="2" charset="0"/>
          <a:ea typeface="Roboto" panose="02000000000000000000" pitchFamily="2" charset="0"/>
        </a:defRPr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bar!$C$2</c:f>
              <c:strCache>
                <c:ptCount val="1"/>
                <c:pt idx="0">
                  <c:v>A</c:v>
                </c:pt>
              </c:strCache>
            </c:strRef>
          </c:tx>
          <c:spPr>
            <a:solidFill>
              <a:srgbClr val="0D1A63"/>
            </a:solidFill>
            <a:ln>
              <a:noFill/>
            </a:ln>
            <a:effectLst/>
          </c:spPr>
          <c:invertIfNegative val="0"/>
          <c:dLbls>
            <c:dLbl>
              <c:idx val="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630E-4F58-93BF-9DEE83FD1524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630E-4F58-93BF-9DEE83FD1524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630E-4F58-93BF-9DEE83FD1524}"/>
                </c:ext>
              </c:extLst>
            </c:dLbl>
            <c:dLbl>
              <c:idx val="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630E-4F58-93BF-9DEE83FD1524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1" i="0" u="none" strike="noStrike" kern="1200" baseline="0">
                    <a:solidFill>
                      <a:srgbClr val="0D1A63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+mn-cs"/>
                  </a:defRPr>
                </a:pPr>
                <a:endParaRPr lang="en-US"/>
              </a:p>
            </c:txPr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bar!$B$3:$B$7</c:f>
              <c:strCache>
                <c:ptCount val="5"/>
                <c:pt idx="0">
                  <c:v>Cat 1</c:v>
                </c:pt>
                <c:pt idx="1">
                  <c:v>Cat 2</c:v>
                </c:pt>
                <c:pt idx="2">
                  <c:v>Cat 3</c:v>
                </c:pt>
                <c:pt idx="3">
                  <c:v>Cat 4</c:v>
                </c:pt>
                <c:pt idx="4">
                  <c:v>Cat 5</c:v>
                </c:pt>
              </c:strCache>
            </c:strRef>
          </c:cat>
          <c:val>
            <c:numRef>
              <c:f>bar!$C$3:$C$7</c:f>
              <c:numCache>
                <c:formatCode>General</c:formatCode>
                <c:ptCount val="5"/>
                <c:pt idx="0">
                  <c:v>1</c:v>
                </c:pt>
                <c:pt idx="1">
                  <c:v>5</c:v>
                </c:pt>
                <c:pt idx="2">
                  <c:v>7</c:v>
                </c:pt>
                <c:pt idx="3">
                  <c:v>8</c:v>
                </c:pt>
                <c:pt idx="4">
                  <c:v>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30E-4F58-93BF-9DEE83FD1524}"/>
            </c:ext>
          </c:extLst>
        </c:ser>
        <c:ser>
          <c:idx val="1"/>
          <c:order val="1"/>
          <c:tx>
            <c:strRef>
              <c:f>bar!$D$2</c:f>
              <c:strCache>
                <c:ptCount val="1"/>
                <c:pt idx="0">
                  <c:v>B</c:v>
                </c:pt>
              </c:strCache>
            </c:strRef>
          </c:tx>
          <c:spPr>
            <a:solidFill>
              <a:srgbClr val="5B73C4"/>
            </a:solidFill>
            <a:ln>
              <a:noFill/>
            </a:ln>
            <a:effectLst/>
          </c:spPr>
          <c:invertIfNegative val="0"/>
          <c:dLbls>
            <c:dLbl>
              <c:idx val="0"/>
              <c:showLegendKey val="0"/>
              <c:showVal val="0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630E-4F58-93BF-9DEE83FD1524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1" i="0" u="none" strike="noStrike" kern="1200" baseline="0">
                    <a:solidFill>
                      <a:srgbClr val="5B73C4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+mn-cs"/>
                  </a:defRPr>
                </a:pPr>
                <a:endParaRPr lang="en-US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bar!$B$3:$B$7</c:f>
              <c:strCache>
                <c:ptCount val="5"/>
                <c:pt idx="0">
                  <c:v>Cat 1</c:v>
                </c:pt>
                <c:pt idx="1">
                  <c:v>Cat 2</c:v>
                </c:pt>
                <c:pt idx="2">
                  <c:v>Cat 3</c:v>
                </c:pt>
                <c:pt idx="3">
                  <c:v>Cat 4</c:v>
                </c:pt>
                <c:pt idx="4">
                  <c:v>Cat 5</c:v>
                </c:pt>
              </c:strCache>
            </c:strRef>
          </c:cat>
          <c:val>
            <c:numRef>
              <c:f>bar!$D$3:$D$7</c:f>
              <c:numCache>
                <c:formatCode>General</c:formatCod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  <c:pt idx="4">
                  <c:v>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30E-4F58-93BF-9DEE83FD152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513599039"/>
        <c:axId val="513599519"/>
      </c:barChart>
      <c:catAx>
        <c:axId val="513599039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pPr>
            <a:endParaRPr lang="en-US"/>
          </a:p>
        </c:txPr>
        <c:crossAx val="513599519"/>
        <c:crosses val="autoZero"/>
        <c:auto val="1"/>
        <c:lblAlgn val="ctr"/>
        <c:lblOffset val="100"/>
        <c:noMultiLvlLbl val="0"/>
      </c:catAx>
      <c:valAx>
        <c:axId val="513599519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pPr>
            <a:endParaRPr lang="en-US"/>
          </a:p>
        </c:txPr>
        <c:crossAx val="51359903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 w="9525" cap="flat" cmpd="sng" algn="ctr">
      <a:noFill/>
      <a:round/>
    </a:ln>
    <a:effectLst/>
  </c:spPr>
  <c:txPr>
    <a:bodyPr/>
    <a:lstStyle/>
    <a:p>
      <a:pPr>
        <a:defRPr>
          <a:latin typeface="Roboto" panose="02000000000000000000" pitchFamily="2" charset="0"/>
          <a:ea typeface="Roboto" panose="02000000000000000000" pitchFamily="2" charset="0"/>
        </a:defRPr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bar!$C$2</c:f>
              <c:strCache>
                <c:ptCount val="1"/>
                <c:pt idx="0">
                  <c:v>A</c:v>
                </c:pt>
              </c:strCache>
            </c:strRef>
          </c:tx>
          <c:spPr>
            <a:solidFill>
              <a:srgbClr val="0D1A63"/>
            </a:solidFill>
            <a:ln>
              <a:noFill/>
            </a:ln>
            <a:effectLst/>
          </c:spPr>
          <c:invertIfNegative val="0"/>
          <c:dLbls>
            <c:dLbl>
              <c:idx val="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4940-48E0-8BD3-D4E52A2E8477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4940-48E0-8BD3-D4E52A2E8477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4940-48E0-8BD3-D4E52A2E8477}"/>
                </c:ext>
              </c:extLst>
            </c:dLbl>
            <c:dLbl>
              <c:idx val="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4940-48E0-8BD3-D4E52A2E8477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1" i="0" u="none" strike="noStrike" kern="1200" baseline="0">
                    <a:solidFill>
                      <a:srgbClr val="0D1A63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+mn-cs"/>
                  </a:defRPr>
                </a:pPr>
                <a:endParaRPr lang="en-US"/>
              </a:p>
            </c:txPr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bar!$B$3:$B$7</c:f>
              <c:strCache>
                <c:ptCount val="5"/>
                <c:pt idx="0">
                  <c:v>Cat 1</c:v>
                </c:pt>
                <c:pt idx="1">
                  <c:v>Cat 2</c:v>
                </c:pt>
                <c:pt idx="2">
                  <c:v>Cat 3</c:v>
                </c:pt>
                <c:pt idx="3">
                  <c:v>Cat 4</c:v>
                </c:pt>
                <c:pt idx="4">
                  <c:v>Cat 5</c:v>
                </c:pt>
              </c:strCache>
            </c:strRef>
          </c:cat>
          <c:val>
            <c:numRef>
              <c:f>bar!$C$3:$C$7</c:f>
              <c:numCache>
                <c:formatCode>General</c:formatCode>
                <c:ptCount val="5"/>
                <c:pt idx="0">
                  <c:v>1</c:v>
                </c:pt>
                <c:pt idx="1">
                  <c:v>5</c:v>
                </c:pt>
                <c:pt idx="2">
                  <c:v>7</c:v>
                </c:pt>
                <c:pt idx="3">
                  <c:v>8</c:v>
                </c:pt>
                <c:pt idx="4">
                  <c:v>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4940-48E0-8BD3-D4E52A2E8477}"/>
            </c:ext>
          </c:extLst>
        </c:ser>
        <c:ser>
          <c:idx val="1"/>
          <c:order val="1"/>
          <c:tx>
            <c:strRef>
              <c:f>bar!$D$2</c:f>
              <c:strCache>
                <c:ptCount val="1"/>
                <c:pt idx="0">
                  <c:v>B</c:v>
                </c:pt>
              </c:strCache>
            </c:strRef>
          </c:tx>
          <c:spPr>
            <a:solidFill>
              <a:srgbClr val="5B73C4"/>
            </a:solidFill>
            <a:ln>
              <a:noFill/>
            </a:ln>
            <a:effectLst/>
          </c:spPr>
          <c:invertIfNegative val="0"/>
          <c:dLbls>
            <c:dLbl>
              <c:idx val="0"/>
              <c:showLegendKey val="0"/>
              <c:showVal val="0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4940-48E0-8BD3-D4E52A2E8477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1" i="0" u="none" strike="noStrike" kern="1200" baseline="0">
                    <a:solidFill>
                      <a:srgbClr val="5B73C4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+mn-cs"/>
                  </a:defRPr>
                </a:pPr>
                <a:endParaRPr lang="en-US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bar!$B$3:$B$7</c:f>
              <c:strCache>
                <c:ptCount val="5"/>
                <c:pt idx="0">
                  <c:v>Cat 1</c:v>
                </c:pt>
                <c:pt idx="1">
                  <c:v>Cat 2</c:v>
                </c:pt>
                <c:pt idx="2">
                  <c:v>Cat 3</c:v>
                </c:pt>
                <c:pt idx="3">
                  <c:v>Cat 4</c:v>
                </c:pt>
                <c:pt idx="4">
                  <c:v>Cat 5</c:v>
                </c:pt>
              </c:strCache>
            </c:strRef>
          </c:cat>
          <c:val>
            <c:numRef>
              <c:f>bar!$D$3:$D$7</c:f>
              <c:numCache>
                <c:formatCode>General</c:formatCod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  <c:pt idx="4">
                  <c:v>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4940-48E0-8BD3-D4E52A2E8477}"/>
            </c:ext>
          </c:extLst>
        </c:ser>
        <c:ser>
          <c:idx val="2"/>
          <c:order val="2"/>
          <c:tx>
            <c:strRef>
              <c:f>bar!$E$2</c:f>
              <c:strCache>
                <c:ptCount val="1"/>
                <c:pt idx="0">
                  <c:v>C</c:v>
                </c:pt>
              </c:strCache>
            </c:strRef>
          </c:tx>
          <c:spPr>
            <a:solidFill>
              <a:srgbClr val="A8B4DE"/>
            </a:solidFill>
            <a:ln>
              <a:noFill/>
            </a:ln>
            <a:effectLst/>
          </c:spPr>
          <c:invertIfNegative val="0"/>
          <c:dLbls>
            <c:dLbl>
              <c:idx val="0"/>
              <c:showLegendKey val="0"/>
              <c:showVal val="0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4940-48E0-8BD3-D4E52A2E8477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1" i="0" u="none" strike="noStrike" kern="1200" baseline="0">
                    <a:solidFill>
                      <a:srgbClr val="A8B4DE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+mn-cs"/>
                  </a:defRPr>
                </a:pPr>
                <a:endParaRPr lang="en-US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bar!$B$3:$B$7</c:f>
              <c:strCache>
                <c:ptCount val="5"/>
                <c:pt idx="0">
                  <c:v>Cat 1</c:v>
                </c:pt>
                <c:pt idx="1">
                  <c:v>Cat 2</c:v>
                </c:pt>
                <c:pt idx="2">
                  <c:v>Cat 3</c:v>
                </c:pt>
                <c:pt idx="3">
                  <c:v>Cat 4</c:v>
                </c:pt>
                <c:pt idx="4">
                  <c:v>Cat 5</c:v>
                </c:pt>
              </c:strCache>
            </c:strRef>
          </c:cat>
          <c:val>
            <c:numRef>
              <c:f>bar!$E$3:$E$7</c:f>
              <c:numCache>
                <c:formatCode>General</c:formatCode>
                <c:ptCount val="5"/>
                <c:pt idx="0">
                  <c:v>2</c:v>
                </c:pt>
                <c:pt idx="1">
                  <c:v>7</c:v>
                </c:pt>
                <c:pt idx="2">
                  <c:v>1</c:v>
                </c:pt>
                <c:pt idx="3">
                  <c:v>1</c:v>
                </c:pt>
                <c:pt idx="4">
                  <c:v>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4940-48E0-8BD3-D4E52A2E847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513599039"/>
        <c:axId val="513599519"/>
      </c:barChart>
      <c:catAx>
        <c:axId val="513599039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pPr>
            <a:endParaRPr lang="en-US"/>
          </a:p>
        </c:txPr>
        <c:crossAx val="513599519"/>
        <c:crosses val="autoZero"/>
        <c:auto val="1"/>
        <c:lblAlgn val="ctr"/>
        <c:lblOffset val="100"/>
        <c:noMultiLvlLbl val="0"/>
      </c:catAx>
      <c:valAx>
        <c:axId val="513599519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pPr>
            <a:endParaRPr lang="en-US"/>
          </a:p>
        </c:txPr>
        <c:crossAx val="51359903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 w="9525" cap="flat" cmpd="sng" algn="ctr">
      <a:noFill/>
      <a:round/>
    </a:ln>
    <a:effectLst/>
  </c:spPr>
  <c:txPr>
    <a:bodyPr/>
    <a:lstStyle/>
    <a:p>
      <a:pPr>
        <a:defRPr>
          <a:latin typeface="Roboto" panose="02000000000000000000" pitchFamily="2" charset="0"/>
          <a:ea typeface="Roboto" panose="02000000000000000000" pitchFamily="2" charset="0"/>
        </a:defRPr>
      </a:pPr>
      <a:endParaRPr lang="en-US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stacked_bar!$C$2</c:f>
              <c:strCache>
                <c:ptCount val="1"/>
                <c:pt idx="0">
                  <c:v>A</c:v>
                </c:pt>
              </c:strCache>
            </c:strRef>
          </c:tx>
          <c:spPr>
            <a:solidFill>
              <a:srgbClr val="0D1A63"/>
            </a:solidFill>
            <a:ln>
              <a:noFill/>
            </a:ln>
            <a:effectLst/>
          </c:spPr>
          <c:invertIfNegative val="0"/>
          <c:dLbls>
            <c:dLbl>
              <c:idx val="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4C2F-41F2-A497-51F4228949D7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4C2F-41F2-A497-51F4228949D7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4C2F-41F2-A497-51F4228949D7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4C2F-41F2-A497-51F4228949D7}"/>
                </c:ext>
              </c:extLst>
            </c:dLbl>
            <c:dLbl>
              <c:idx val="4"/>
              <c:layout>
                <c:manualLayout>
                  <c:x val="0.10301555919356541"/>
                  <c:y val="-8.4875562720133283E-17"/>
                </c:manualLayout>
              </c:layout>
              <c:showLegendKey val="0"/>
              <c:showVal val="0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4C2F-41F2-A497-51F4228949D7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1" i="0" u="none" strike="noStrike" kern="1200" baseline="0">
                    <a:solidFill>
                      <a:srgbClr val="0D1A63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+mn-cs"/>
                  </a:defRPr>
                </a:pPr>
                <a:endParaRPr lang="en-US"/>
              </a:p>
            </c:txPr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stacked_bar!$B$3:$B$7</c:f>
              <c:strCache>
                <c:ptCount val="5"/>
                <c:pt idx="0">
                  <c:v>Cat 1</c:v>
                </c:pt>
                <c:pt idx="1">
                  <c:v>Cat 2</c:v>
                </c:pt>
                <c:pt idx="2">
                  <c:v>Cat 3</c:v>
                </c:pt>
                <c:pt idx="3">
                  <c:v>Cat 4</c:v>
                </c:pt>
                <c:pt idx="4">
                  <c:v>Cat 5</c:v>
                </c:pt>
              </c:strCache>
            </c:strRef>
          </c:cat>
          <c:val>
            <c:numRef>
              <c:f>stacked_bar!$C$3:$C$7</c:f>
              <c:numCache>
                <c:formatCode>General</c:formatCode>
                <c:ptCount val="5"/>
                <c:pt idx="0">
                  <c:v>3</c:v>
                </c:pt>
                <c:pt idx="1">
                  <c:v>5</c:v>
                </c:pt>
                <c:pt idx="2">
                  <c:v>7</c:v>
                </c:pt>
                <c:pt idx="3">
                  <c:v>8</c:v>
                </c:pt>
                <c:pt idx="4">
                  <c:v>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4C2F-41F2-A497-51F4228949D7}"/>
            </c:ext>
          </c:extLst>
        </c:ser>
        <c:ser>
          <c:idx val="1"/>
          <c:order val="1"/>
          <c:tx>
            <c:strRef>
              <c:f>stacked_bar!$D$2</c:f>
              <c:strCache>
                <c:ptCount val="1"/>
                <c:pt idx="0">
                  <c:v>B</c:v>
                </c:pt>
              </c:strCache>
            </c:strRef>
          </c:tx>
          <c:spPr>
            <a:solidFill>
              <a:srgbClr val="5B73C4"/>
            </a:solidFill>
            <a:ln>
              <a:noFill/>
            </a:ln>
            <a:effectLst/>
          </c:spPr>
          <c:invertIfNegative val="0"/>
          <c:dLbls>
            <c:dLbl>
              <c:idx val="4"/>
              <c:layout>
                <c:manualLayout>
                  <c:x val="0.10321305564391954"/>
                  <c:y val="0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900" b="1" i="0" u="none" strike="noStrike" kern="1200" baseline="0">
                      <a:solidFill>
                        <a:srgbClr val="0D1A63"/>
                      </a:solidFill>
                      <a:latin typeface="Roboto" panose="02000000000000000000" pitchFamily="2" charset="0"/>
                      <a:ea typeface="Roboto" panose="02000000000000000000" pitchFamily="2" charset="0"/>
                      <a:cs typeface="+mn-cs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4C2F-41F2-A497-51F4228949D7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+mn-cs"/>
                  </a:defRPr>
                </a:pPr>
                <a:endParaRPr lang="en-US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stacked_bar!$B$3:$B$7</c:f>
              <c:strCache>
                <c:ptCount val="5"/>
                <c:pt idx="0">
                  <c:v>Cat 1</c:v>
                </c:pt>
                <c:pt idx="1">
                  <c:v>Cat 2</c:v>
                </c:pt>
                <c:pt idx="2">
                  <c:v>Cat 3</c:v>
                </c:pt>
                <c:pt idx="3">
                  <c:v>Cat 4</c:v>
                </c:pt>
                <c:pt idx="4">
                  <c:v>Cat 5</c:v>
                </c:pt>
              </c:strCache>
            </c:strRef>
          </c:cat>
          <c:val>
            <c:numRef>
              <c:f>stacked_bar!$D$3:$D$7</c:f>
              <c:numCache>
                <c:formatCode>General</c:formatCode>
                <c:ptCount val="5"/>
                <c:pt idx="0">
                  <c:v>4</c:v>
                </c:pt>
                <c:pt idx="1">
                  <c:v>3</c:v>
                </c:pt>
                <c:pt idx="2">
                  <c:v>3.5</c:v>
                </c:pt>
                <c:pt idx="3">
                  <c:v>4.5</c:v>
                </c:pt>
                <c:pt idx="4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4C2F-41F2-A497-51F4228949D7}"/>
            </c:ext>
          </c:extLst>
        </c:ser>
        <c:ser>
          <c:idx val="2"/>
          <c:order val="2"/>
          <c:tx>
            <c:strRef>
              <c:f>stacked_bar!$E$2</c:f>
              <c:strCache>
                <c:ptCount val="1"/>
                <c:pt idx="0">
                  <c:v>C</c:v>
                </c:pt>
              </c:strCache>
            </c:strRef>
          </c:tx>
          <c:spPr>
            <a:solidFill>
              <a:srgbClr val="A8B4DE"/>
            </a:solidFill>
            <a:ln>
              <a:noFill/>
            </a:ln>
            <a:effectLst/>
          </c:spPr>
          <c:invertIfNegative val="0"/>
          <c:dLbls>
            <c:dLbl>
              <c:idx val="0"/>
              <c:showLegendKey val="0"/>
              <c:showVal val="0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4C2F-41F2-A497-51F4228949D7}"/>
                </c:ext>
              </c:extLst>
            </c:dLbl>
            <c:dLbl>
              <c:idx val="4"/>
              <c:layout>
                <c:manualLayout>
                  <c:x val="0.10301555919356541"/>
                  <c:y val="4.6296296296296511E-3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900" b="1" i="0" u="none" strike="noStrike" kern="1200" baseline="0">
                      <a:solidFill>
                        <a:srgbClr val="0D1A63"/>
                      </a:solidFill>
                      <a:latin typeface="Roboto" panose="02000000000000000000" pitchFamily="2" charset="0"/>
                      <a:ea typeface="Roboto" panose="02000000000000000000" pitchFamily="2" charset="0"/>
                      <a:cs typeface="+mn-cs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4C2F-41F2-A497-51F4228949D7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1" i="0" u="none" strike="noStrike" kern="1200" baseline="0">
                    <a:solidFill>
                      <a:srgbClr val="A8B4DE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+mn-cs"/>
                  </a:defRPr>
                </a:pPr>
                <a:endParaRPr lang="en-US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stacked_bar!$B$3:$B$7</c:f>
              <c:strCache>
                <c:ptCount val="5"/>
                <c:pt idx="0">
                  <c:v>Cat 1</c:v>
                </c:pt>
                <c:pt idx="1">
                  <c:v>Cat 2</c:v>
                </c:pt>
                <c:pt idx="2">
                  <c:v>Cat 3</c:v>
                </c:pt>
                <c:pt idx="3">
                  <c:v>Cat 4</c:v>
                </c:pt>
                <c:pt idx="4">
                  <c:v>Cat 5</c:v>
                </c:pt>
              </c:strCache>
            </c:strRef>
          </c:cat>
          <c:val>
            <c:numRef>
              <c:f>stacked_bar!$E$3:$E$7</c:f>
              <c:numCache>
                <c:formatCode>General</c:formatCode>
                <c:ptCount val="5"/>
                <c:pt idx="0">
                  <c:v>2</c:v>
                </c:pt>
                <c:pt idx="1">
                  <c:v>3</c:v>
                </c:pt>
                <c:pt idx="2">
                  <c:v>1.5</c:v>
                </c:pt>
                <c:pt idx="3">
                  <c:v>2</c:v>
                </c:pt>
                <c:pt idx="4">
                  <c:v>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4C2F-41F2-A497-51F4228949D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overlap val="100"/>
        <c:axId val="513599039"/>
        <c:axId val="513599519"/>
      </c:barChart>
      <c:catAx>
        <c:axId val="513599039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pPr>
            <a:endParaRPr lang="en-US"/>
          </a:p>
        </c:txPr>
        <c:crossAx val="513599519"/>
        <c:crosses val="autoZero"/>
        <c:auto val="1"/>
        <c:lblAlgn val="ctr"/>
        <c:lblOffset val="100"/>
        <c:noMultiLvlLbl val="0"/>
      </c:catAx>
      <c:valAx>
        <c:axId val="513599519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pPr>
            <a:endParaRPr lang="en-US"/>
          </a:p>
        </c:txPr>
        <c:crossAx val="51359903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 w="9525" cap="flat" cmpd="sng" algn="ctr">
      <a:noFill/>
      <a:round/>
    </a:ln>
    <a:effectLst/>
  </c:spPr>
  <c:txPr>
    <a:bodyPr/>
    <a:lstStyle/>
    <a:p>
      <a:pPr>
        <a:defRPr>
          <a:latin typeface="Roboto" panose="02000000000000000000" pitchFamily="2" charset="0"/>
          <a:ea typeface="Roboto" panose="02000000000000000000" pitchFamily="2" charset="0"/>
        </a:defRPr>
      </a:pPr>
      <a:endParaRPr lang="en-US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bar_ho!$C$2</c:f>
              <c:strCache>
                <c:ptCount val="1"/>
                <c:pt idx="0">
                  <c:v>A</c:v>
                </c:pt>
              </c:strCache>
            </c:strRef>
          </c:tx>
          <c:spPr>
            <a:solidFill>
              <a:srgbClr val="0D1A63"/>
            </a:solidFill>
            <a:ln>
              <a:noFill/>
            </a:ln>
            <a:effectLst/>
          </c:spPr>
          <c:invertIfNegative val="0"/>
          <c:cat>
            <c:strRef>
              <c:f>bar_ho!$B$3:$B$7</c:f>
              <c:strCache>
                <c:ptCount val="5"/>
                <c:pt idx="0">
                  <c:v>Cat 1</c:v>
                </c:pt>
                <c:pt idx="1">
                  <c:v>Cat 2</c:v>
                </c:pt>
                <c:pt idx="2">
                  <c:v>Cat 3</c:v>
                </c:pt>
                <c:pt idx="3">
                  <c:v>Cat 4</c:v>
                </c:pt>
                <c:pt idx="4">
                  <c:v>Cat 5</c:v>
                </c:pt>
              </c:strCache>
            </c:strRef>
          </c:cat>
          <c:val>
            <c:numRef>
              <c:f>bar_ho!$C$3:$C$7</c:f>
              <c:numCache>
                <c:formatCode>General</c:formatCode>
                <c:ptCount val="5"/>
                <c:pt idx="0">
                  <c:v>1</c:v>
                </c:pt>
                <c:pt idx="1">
                  <c:v>5</c:v>
                </c:pt>
                <c:pt idx="2">
                  <c:v>6</c:v>
                </c:pt>
                <c:pt idx="3">
                  <c:v>7</c:v>
                </c:pt>
                <c:pt idx="4">
                  <c:v>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7C7-4021-BDAE-72AB23121EE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513599039"/>
        <c:axId val="513599519"/>
      </c:barChart>
      <c:catAx>
        <c:axId val="513599039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pPr>
            <a:endParaRPr lang="en-US"/>
          </a:p>
        </c:txPr>
        <c:crossAx val="513599519"/>
        <c:crosses val="autoZero"/>
        <c:auto val="1"/>
        <c:lblAlgn val="ctr"/>
        <c:lblOffset val="100"/>
        <c:noMultiLvlLbl val="0"/>
      </c:catAx>
      <c:valAx>
        <c:axId val="513599519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pPr>
            <a:endParaRPr lang="en-US"/>
          </a:p>
        </c:txPr>
        <c:crossAx val="51359903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 w="9525" cap="flat" cmpd="sng" algn="ctr">
      <a:noFill/>
      <a:round/>
    </a:ln>
    <a:effectLst/>
  </c:spPr>
  <c:txPr>
    <a:bodyPr/>
    <a:lstStyle/>
    <a:p>
      <a:pPr>
        <a:defRPr>
          <a:latin typeface="Roboto" panose="02000000000000000000" pitchFamily="2" charset="0"/>
          <a:ea typeface="Roboto" panose="02000000000000000000" pitchFamily="2" charset="0"/>
        </a:defRPr>
      </a:pPr>
      <a:endParaRPr lang="en-US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bar_ho!$C$2</c:f>
              <c:strCache>
                <c:ptCount val="1"/>
                <c:pt idx="0">
                  <c:v>A</c:v>
                </c:pt>
              </c:strCache>
            </c:strRef>
          </c:tx>
          <c:spPr>
            <a:solidFill>
              <a:srgbClr val="0D1A63"/>
            </a:solidFill>
            <a:ln>
              <a:noFill/>
            </a:ln>
            <a:effectLst/>
          </c:spPr>
          <c:invertIfNegative val="0"/>
          <c:dLbls>
            <c:dLbl>
              <c:idx val="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E758-44EA-A109-DCCE5CE31F39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E758-44EA-A109-DCCE5CE31F39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E758-44EA-A109-DCCE5CE31F39}"/>
                </c:ext>
              </c:extLst>
            </c:dLbl>
            <c:dLbl>
              <c:idx val="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E758-44EA-A109-DCCE5CE31F39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1" i="0" u="none" strike="noStrike" kern="1200" baseline="0">
                    <a:solidFill>
                      <a:srgbClr val="0D1A63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+mn-cs"/>
                  </a:defRPr>
                </a:pPr>
                <a:endParaRPr lang="en-US"/>
              </a:p>
            </c:txPr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bar_ho!$B$3:$B$7</c:f>
              <c:strCache>
                <c:ptCount val="5"/>
                <c:pt idx="0">
                  <c:v>Cat 1</c:v>
                </c:pt>
                <c:pt idx="1">
                  <c:v>Cat 2</c:v>
                </c:pt>
                <c:pt idx="2">
                  <c:v>Cat 3</c:v>
                </c:pt>
                <c:pt idx="3">
                  <c:v>Cat 4</c:v>
                </c:pt>
                <c:pt idx="4">
                  <c:v>Cat 5</c:v>
                </c:pt>
              </c:strCache>
            </c:strRef>
          </c:cat>
          <c:val>
            <c:numRef>
              <c:f>bar_ho!$C$3:$C$7</c:f>
              <c:numCache>
                <c:formatCode>General</c:formatCode>
                <c:ptCount val="5"/>
                <c:pt idx="0">
                  <c:v>1</c:v>
                </c:pt>
                <c:pt idx="1">
                  <c:v>5</c:v>
                </c:pt>
                <c:pt idx="2">
                  <c:v>6</c:v>
                </c:pt>
                <c:pt idx="3">
                  <c:v>7</c:v>
                </c:pt>
                <c:pt idx="4">
                  <c:v>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E758-44EA-A109-DCCE5CE31F39}"/>
            </c:ext>
          </c:extLst>
        </c:ser>
        <c:ser>
          <c:idx val="1"/>
          <c:order val="1"/>
          <c:tx>
            <c:strRef>
              <c:f>bar_ho!$D$2</c:f>
              <c:strCache>
                <c:ptCount val="1"/>
                <c:pt idx="0">
                  <c:v>B</c:v>
                </c:pt>
              </c:strCache>
            </c:strRef>
          </c:tx>
          <c:spPr>
            <a:solidFill>
              <a:srgbClr val="5B73C4"/>
            </a:solidFill>
            <a:ln>
              <a:noFill/>
            </a:ln>
            <a:effectLst/>
          </c:spPr>
          <c:invertIfNegative val="0"/>
          <c:dLbls>
            <c:dLbl>
              <c:idx val="0"/>
              <c:showLegendKey val="0"/>
              <c:showVal val="0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E758-44EA-A109-DCCE5CE31F39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1" i="0" u="none" strike="noStrike" kern="1200" baseline="0">
                    <a:solidFill>
                      <a:srgbClr val="5B73C4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+mn-cs"/>
                  </a:defRPr>
                </a:pPr>
                <a:endParaRPr lang="en-US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bar_ho!$B$3:$B$7</c:f>
              <c:strCache>
                <c:ptCount val="5"/>
                <c:pt idx="0">
                  <c:v>Cat 1</c:v>
                </c:pt>
                <c:pt idx="1">
                  <c:v>Cat 2</c:v>
                </c:pt>
                <c:pt idx="2">
                  <c:v>Cat 3</c:v>
                </c:pt>
                <c:pt idx="3">
                  <c:v>Cat 4</c:v>
                </c:pt>
                <c:pt idx="4">
                  <c:v>Cat 5</c:v>
                </c:pt>
              </c:strCache>
            </c:strRef>
          </c:cat>
          <c:val>
            <c:numRef>
              <c:f>bar_ho!$D$3:$D$7</c:f>
              <c:numCache>
                <c:formatCode>General</c:formatCod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  <c:pt idx="4">
                  <c:v>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E758-44EA-A109-DCCE5CE31F3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513599039"/>
        <c:axId val="513599519"/>
      </c:barChart>
      <c:catAx>
        <c:axId val="513599039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pPr>
            <a:endParaRPr lang="en-US"/>
          </a:p>
        </c:txPr>
        <c:crossAx val="513599519"/>
        <c:crosses val="autoZero"/>
        <c:auto val="1"/>
        <c:lblAlgn val="ctr"/>
        <c:lblOffset val="100"/>
        <c:noMultiLvlLbl val="0"/>
      </c:catAx>
      <c:valAx>
        <c:axId val="513599519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pPr>
            <a:endParaRPr lang="en-US"/>
          </a:p>
        </c:txPr>
        <c:crossAx val="51359903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 w="9525" cap="flat" cmpd="sng" algn="ctr">
      <a:noFill/>
      <a:round/>
    </a:ln>
    <a:effectLst/>
  </c:spPr>
  <c:txPr>
    <a:bodyPr/>
    <a:lstStyle/>
    <a:p>
      <a:pPr>
        <a:defRPr>
          <a:latin typeface="Roboto" panose="02000000000000000000" pitchFamily="2" charset="0"/>
          <a:ea typeface="Roboto" panose="02000000000000000000" pitchFamily="2" charset="0"/>
        </a:defRPr>
      </a:pPr>
      <a:endParaRPr lang="en-US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bar_ho!$C$2</c:f>
              <c:strCache>
                <c:ptCount val="1"/>
                <c:pt idx="0">
                  <c:v>A</c:v>
                </c:pt>
              </c:strCache>
            </c:strRef>
          </c:tx>
          <c:spPr>
            <a:solidFill>
              <a:srgbClr val="0D1A63"/>
            </a:solidFill>
            <a:ln>
              <a:noFill/>
            </a:ln>
            <a:effectLst/>
          </c:spPr>
          <c:invertIfNegative val="0"/>
          <c:dLbls>
            <c:dLbl>
              <c:idx val="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E298-4A03-A603-F4C7556C9DD7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E298-4A03-A603-F4C7556C9DD7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E298-4A03-A603-F4C7556C9DD7}"/>
                </c:ext>
              </c:extLst>
            </c:dLbl>
            <c:dLbl>
              <c:idx val="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E298-4A03-A603-F4C7556C9DD7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1" i="0" u="none" strike="noStrike" kern="1200" baseline="0">
                    <a:solidFill>
                      <a:srgbClr val="0D1A63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+mn-cs"/>
                  </a:defRPr>
                </a:pPr>
                <a:endParaRPr lang="en-US"/>
              </a:p>
            </c:txPr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bar_ho!$B$3:$B$7</c:f>
              <c:strCache>
                <c:ptCount val="5"/>
                <c:pt idx="0">
                  <c:v>Cat 1</c:v>
                </c:pt>
                <c:pt idx="1">
                  <c:v>Cat 2</c:v>
                </c:pt>
                <c:pt idx="2">
                  <c:v>Cat 3</c:v>
                </c:pt>
                <c:pt idx="3">
                  <c:v>Cat 4</c:v>
                </c:pt>
                <c:pt idx="4">
                  <c:v>Cat 5</c:v>
                </c:pt>
              </c:strCache>
            </c:strRef>
          </c:cat>
          <c:val>
            <c:numRef>
              <c:f>bar_ho!$C$3:$C$7</c:f>
              <c:numCache>
                <c:formatCode>General</c:formatCode>
                <c:ptCount val="5"/>
                <c:pt idx="0">
                  <c:v>1</c:v>
                </c:pt>
                <c:pt idx="1">
                  <c:v>5</c:v>
                </c:pt>
                <c:pt idx="2">
                  <c:v>6</c:v>
                </c:pt>
                <c:pt idx="3">
                  <c:v>7</c:v>
                </c:pt>
                <c:pt idx="4">
                  <c:v>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E298-4A03-A603-F4C7556C9DD7}"/>
            </c:ext>
          </c:extLst>
        </c:ser>
        <c:ser>
          <c:idx val="1"/>
          <c:order val="1"/>
          <c:tx>
            <c:strRef>
              <c:f>bar_ho!$D$2</c:f>
              <c:strCache>
                <c:ptCount val="1"/>
                <c:pt idx="0">
                  <c:v>B</c:v>
                </c:pt>
              </c:strCache>
            </c:strRef>
          </c:tx>
          <c:spPr>
            <a:solidFill>
              <a:srgbClr val="5B73C4"/>
            </a:solidFill>
            <a:ln>
              <a:noFill/>
            </a:ln>
            <a:effectLst/>
          </c:spPr>
          <c:invertIfNegative val="0"/>
          <c:dLbls>
            <c:dLbl>
              <c:idx val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900" b="1" i="0" u="none" strike="noStrike" kern="1200" baseline="0">
                      <a:solidFill>
                        <a:srgbClr val="5B73C4"/>
                      </a:solidFill>
                      <a:latin typeface="Roboto" panose="02000000000000000000" pitchFamily="2" charset="0"/>
                      <a:ea typeface="Roboto" panose="02000000000000000000" pitchFamily="2" charset="0"/>
                      <a:cs typeface="+mn-cs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E298-4A03-A603-F4C7556C9DD7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1" i="0" u="none" strike="noStrike" kern="1200" baseline="0">
                    <a:solidFill>
                      <a:srgbClr val="F68048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+mn-cs"/>
                  </a:defRPr>
                </a:pPr>
                <a:endParaRPr lang="en-US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bar_ho!$B$3:$B$7</c:f>
              <c:strCache>
                <c:ptCount val="5"/>
                <c:pt idx="0">
                  <c:v>Cat 1</c:v>
                </c:pt>
                <c:pt idx="1">
                  <c:v>Cat 2</c:v>
                </c:pt>
                <c:pt idx="2">
                  <c:v>Cat 3</c:v>
                </c:pt>
                <c:pt idx="3">
                  <c:v>Cat 4</c:v>
                </c:pt>
                <c:pt idx="4">
                  <c:v>Cat 5</c:v>
                </c:pt>
              </c:strCache>
            </c:strRef>
          </c:cat>
          <c:val>
            <c:numRef>
              <c:f>bar_ho!$D$3:$D$7</c:f>
              <c:numCache>
                <c:formatCode>General</c:formatCod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  <c:pt idx="4">
                  <c:v>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E298-4A03-A603-F4C7556C9DD7}"/>
            </c:ext>
          </c:extLst>
        </c:ser>
        <c:ser>
          <c:idx val="2"/>
          <c:order val="2"/>
          <c:tx>
            <c:strRef>
              <c:f>bar_ho!$E$2</c:f>
              <c:strCache>
                <c:ptCount val="1"/>
                <c:pt idx="0">
                  <c:v>C</c:v>
                </c:pt>
              </c:strCache>
            </c:strRef>
          </c:tx>
          <c:spPr>
            <a:solidFill>
              <a:srgbClr val="A8B4DE"/>
            </a:solidFill>
            <a:ln>
              <a:noFill/>
            </a:ln>
            <a:effectLst/>
          </c:spPr>
          <c:invertIfNegative val="0"/>
          <c:dLbls>
            <c:dLbl>
              <c:idx val="0"/>
              <c:showLegendKey val="0"/>
              <c:showVal val="0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E298-4A03-A603-F4C7556C9DD7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1" i="0" u="none" strike="noStrike" kern="1200" baseline="0">
                    <a:solidFill>
                      <a:srgbClr val="A8B4DE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+mn-cs"/>
                  </a:defRPr>
                </a:pPr>
                <a:endParaRPr lang="en-US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bar_ho!$B$3:$B$7</c:f>
              <c:strCache>
                <c:ptCount val="5"/>
                <c:pt idx="0">
                  <c:v>Cat 1</c:v>
                </c:pt>
                <c:pt idx="1">
                  <c:v>Cat 2</c:v>
                </c:pt>
                <c:pt idx="2">
                  <c:v>Cat 3</c:v>
                </c:pt>
                <c:pt idx="3">
                  <c:v>Cat 4</c:v>
                </c:pt>
                <c:pt idx="4">
                  <c:v>Cat 5</c:v>
                </c:pt>
              </c:strCache>
            </c:strRef>
          </c:cat>
          <c:val>
            <c:numRef>
              <c:f>bar_ho!$E$3:$E$7</c:f>
              <c:numCache>
                <c:formatCode>General</c:formatCode>
                <c:ptCount val="5"/>
                <c:pt idx="0">
                  <c:v>2</c:v>
                </c:pt>
                <c:pt idx="1">
                  <c:v>7</c:v>
                </c:pt>
                <c:pt idx="2">
                  <c:v>1</c:v>
                </c:pt>
                <c:pt idx="3">
                  <c:v>1</c:v>
                </c:pt>
                <c:pt idx="4">
                  <c:v>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E298-4A03-A603-F4C7556C9DD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513599039"/>
        <c:axId val="513599519"/>
      </c:barChart>
      <c:catAx>
        <c:axId val="513599039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pPr>
            <a:endParaRPr lang="en-US"/>
          </a:p>
        </c:txPr>
        <c:crossAx val="513599519"/>
        <c:crosses val="autoZero"/>
        <c:auto val="1"/>
        <c:lblAlgn val="ctr"/>
        <c:lblOffset val="100"/>
        <c:noMultiLvlLbl val="0"/>
      </c:catAx>
      <c:valAx>
        <c:axId val="513599519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pPr>
            <a:endParaRPr lang="en-US"/>
          </a:p>
        </c:txPr>
        <c:crossAx val="51359903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 w="9525" cap="flat" cmpd="sng" algn="ctr">
      <a:noFill/>
      <a:round/>
    </a:ln>
    <a:effectLst/>
  </c:spPr>
  <c:txPr>
    <a:bodyPr/>
    <a:lstStyle/>
    <a:p>
      <a:pPr>
        <a:defRPr>
          <a:latin typeface="Roboto" panose="02000000000000000000" pitchFamily="2" charset="0"/>
          <a:ea typeface="Roboto" panose="02000000000000000000" pitchFamily="2" charset="0"/>
        </a:defRPr>
      </a:pPr>
      <a:endParaRPr lang="en-US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stack_bar!$B$3</c:f>
              <c:strCache>
                <c:ptCount val="1"/>
                <c:pt idx="0">
                  <c:v>A</c:v>
                </c:pt>
              </c:strCache>
            </c:strRef>
          </c:tx>
          <c:spPr>
            <a:solidFill>
              <a:schemeClr val="bg1">
                <a:lumMod val="50000"/>
              </a:schemeClr>
            </a:solidFill>
            <a:ln w="12700">
              <a:solidFill>
                <a:schemeClr val="bg1">
                  <a:lumMod val="95000"/>
                </a:schemeClr>
              </a:solidFill>
            </a:ln>
            <a:effectLst/>
          </c:spPr>
          <c:invertIfNegative val="0"/>
          <c:cat>
            <c:strRef>
              <c:f>stack_bar!$C$2:$G$2</c:f>
              <c:strCache>
                <c:ptCount val="5"/>
                <c:pt idx="0">
                  <c:v>Survey item A</c:v>
                </c:pt>
                <c:pt idx="1">
                  <c:v>Survey item B</c:v>
                </c:pt>
                <c:pt idx="2">
                  <c:v>Survey item C</c:v>
                </c:pt>
                <c:pt idx="3">
                  <c:v>Survey item D</c:v>
                </c:pt>
                <c:pt idx="4">
                  <c:v>Survey item E</c:v>
                </c:pt>
              </c:strCache>
            </c:strRef>
          </c:cat>
          <c:val>
            <c:numRef>
              <c:f>stack_bar!$C$3:$G$3</c:f>
              <c:numCache>
                <c:formatCode>General</c:formatCode>
                <c:ptCount val="5"/>
                <c:pt idx="0">
                  <c:v>5</c:v>
                </c:pt>
                <c:pt idx="1">
                  <c:v>5</c:v>
                </c:pt>
                <c:pt idx="2">
                  <c:v>18</c:v>
                </c:pt>
                <c:pt idx="3">
                  <c:v>25</c:v>
                </c:pt>
                <c:pt idx="4">
                  <c:v>11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672-450A-A6A9-53C438AD5F76}"/>
            </c:ext>
          </c:extLst>
        </c:ser>
        <c:ser>
          <c:idx val="1"/>
          <c:order val="1"/>
          <c:tx>
            <c:strRef>
              <c:f>stack_bar!$B$4</c:f>
              <c:strCache>
                <c:ptCount val="1"/>
                <c:pt idx="0">
                  <c:v>B</c:v>
                </c:pt>
              </c:strCache>
            </c:strRef>
          </c:tx>
          <c:spPr>
            <a:solidFill>
              <a:schemeClr val="bg1">
                <a:lumMod val="50000"/>
              </a:schemeClr>
            </a:solidFill>
            <a:ln w="12700">
              <a:solidFill>
                <a:schemeClr val="bg1">
                  <a:lumMod val="95000"/>
                </a:schemeClr>
              </a:solidFill>
            </a:ln>
            <a:effectLst/>
          </c:spPr>
          <c:invertIfNegative val="0"/>
          <c:cat>
            <c:strRef>
              <c:f>stack_bar!$C$2:$G$2</c:f>
              <c:strCache>
                <c:ptCount val="5"/>
                <c:pt idx="0">
                  <c:v>Survey item A</c:v>
                </c:pt>
                <c:pt idx="1">
                  <c:v>Survey item B</c:v>
                </c:pt>
                <c:pt idx="2">
                  <c:v>Survey item C</c:v>
                </c:pt>
                <c:pt idx="3">
                  <c:v>Survey item D</c:v>
                </c:pt>
                <c:pt idx="4">
                  <c:v>Survey item E</c:v>
                </c:pt>
              </c:strCache>
            </c:strRef>
          </c:cat>
          <c:val>
            <c:numRef>
              <c:f>stack_bar!$C$4:$G$4</c:f>
              <c:numCache>
                <c:formatCode>General</c:formatCode>
                <c:ptCount val="5"/>
                <c:pt idx="0">
                  <c:v>5</c:v>
                </c:pt>
                <c:pt idx="1">
                  <c:v>27</c:v>
                </c:pt>
                <c:pt idx="2">
                  <c:v>17</c:v>
                </c:pt>
                <c:pt idx="3">
                  <c:v>19</c:v>
                </c:pt>
                <c:pt idx="4">
                  <c:v>18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672-450A-A6A9-53C438AD5F76}"/>
            </c:ext>
          </c:extLst>
        </c:ser>
        <c:ser>
          <c:idx val="2"/>
          <c:order val="2"/>
          <c:tx>
            <c:strRef>
              <c:f>stack_bar!$B$5</c:f>
              <c:strCache>
                <c:ptCount val="1"/>
                <c:pt idx="0">
                  <c:v>C</c:v>
                </c:pt>
              </c:strCache>
            </c:strRef>
          </c:tx>
          <c:spPr>
            <a:solidFill>
              <a:schemeClr val="accent3"/>
            </a:solidFill>
            <a:ln w="12700">
              <a:solidFill>
                <a:schemeClr val="bg1">
                  <a:lumMod val="95000"/>
                </a:schemeClr>
              </a:solidFill>
            </a:ln>
            <a:effectLst/>
          </c:spPr>
          <c:invertIfNegative val="0"/>
          <c:cat>
            <c:strRef>
              <c:f>stack_bar!$C$2:$G$2</c:f>
              <c:strCache>
                <c:ptCount val="5"/>
                <c:pt idx="0">
                  <c:v>Survey item A</c:v>
                </c:pt>
                <c:pt idx="1">
                  <c:v>Survey item B</c:v>
                </c:pt>
                <c:pt idx="2">
                  <c:v>Survey item C</c:v>
                </c:pt>
                <c:pt idx="3">
                  <c:v>Survey item D</c:v>
                </c:pt>
                <c:pt idx="4">
                  <c:v>Survey item E</c:v>
                </c:pt>
              </c:strCache>
            </c:strRef>
          </c:cat>
          <c:val>
            <c:numRef>
              <c:f>stack_bar!$C$5:$G$5</c:f>
              <c:numCache>
                <c:formatCode>General</c:formatCode>
                <c:ptCount val="5"/>
                <c:pt idx="0">
                  <c:v>25</c:v>
                </c:pt>
                <c:pt idx="1">
                  <c:v>24</c:v>
                </c:pt>
                <c:pt idx="2">
                  <c:v>15</c:v>
                </c:pt>
                <c:pt idx="3">
                  <c:v>20</c:v>
                </c:pt>
                <c:pt idx="4">
                  <c:v>10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D672-450A-A6A9-53C438AD5F76}"/>
            </c:ext>
          </c:extLst>
        </c:ser>
        <c:ser>
          <c:idx val="3"/>
          <c:order val="3"/>
          <c:tx>
            <c:strRef>
              <c:f>stack_bar!$B$6</c:f>
              <c:strCache>
                <c:ptCount val="1"/>
                <c:pt idx="0">
                  <c:v>D</c:v>
                </c:pt>
              </c:strCache>
            </c:strRef>
          </c:tx>
          <c:spPr>
            <a:solidFill>
              <a:srgbClr val="002060"/>
            </a:solidFill>
            <a:ln w="12700">
              <a:solidFill>
                <a:schemeClr val="bg1">
                  <a:lumMod val="95000"/>
                </a:schemeClr>
              </a:solidFill>
            </a:ln>
            <a:effectLst/>
          </c:spPr>
          <c:invertIfNegative val="0"/>
          <c:cat>
            <c:strRef>
              <c:f>stack_bar!$C$2:$G$2</c:f>
              <c:strCache>
                <c:ptCount val="5"/>
                <c:pt idx="0">
                  <c:v>Survey item A</c:v>
                </c:pt>
                <c:pt idx="1">
                  <c:v>Survey item B</c:v>
                </c:pt>
                <c:pt idx="2">
                  <c:v>Survey item C</c:v>
                </c:pt>
                <c:pt idx="3">
                  <c:v>Survey item D</c:v>
                </c:pt>
                <c:pt idx="4">
                  <c:v>Survey item E</c:v>
                </c:pt>
              </c:strCache>
            </c:strRef>
          </c:cat>
          <c:val>
            <c:numRef>
              <c:f>stack_bar!$C$6:$G$6</c:f>
              <c:numCache>
                <c:formatCode>General</c:formatCode>
                <c:ptCount val="5"/>
                <c:pt idx="0">
                  <c:v>35</c:v>
                </c:pt>
                <c:pt idx="1">
                  <c:v>20</c:v>
                </c:pt>
                <c:pt idx="2">
                  <c:v>27</c:v>
                </c:pt>
                <c:pt idx="3">
                  <c:v>19</c:v>
                </c:pt>
                <c:pt idx="4">
                  <c:v>20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D672-450A-A6A9-53C438AD5F76}"/>
            </c:ext>
          </c:extLst>
        </c:ser>
        <c:ser>
          <c:idx val="4"/>
          <c:order val="4"/>
          <c:tx>
            <c:strRef>
              <c:f>stack_bar!$B$7</c:f>
              <c:strCache>
                <c:ptCount val="1"/>
                <c:pt idx="0">
                  <c:v>S</c:v>
                </c:pt>
              </c:strCache>
            </c:strRef>
          </c:tx>
          <c:spPr>
            <a:solidFill>
              <a:srgbClr val="002060"/>
            </a:solidFill>
            <a:ln w="12700">
              <a:solidFill>
                <a:schemeClr val="bg1">
                  <a:lumMod val="95000"/>
                </a:schemeClr>
              </a:solidFill>
            </a:ln>
            <a:effectLst/>
          </c:spPr>
          <c:invertIfNegative val="0"/>
          <c:cat>
            <c:strRef>
              <c:f>stack_bar!$C$2:$G$2</c:f>
              <c:strCache>
                <c:ptCount val="5"/>
                <c:pt idx="0">
                  <c:v>Survey item A</c:v>
                </c:pt>
                <c:pt idx="1">
                  <c:v>Survey item B</c:v>
                </c:pt>
                <c:pt idx="2">
                  <c:v>Survey item C</c:v>
                </c:pt>
                <c:pt idx="3">
                  <c:v>Survey item D</c:v>
                </c:pt>
                <c:pt idx="4">
                  <c:v>Survey item E</c:v>
                </c:pt>
              </c:strCache>
            </c:strRef>
          </c:cat>
          <c:val>
            <c:numRef>
              <c:f>stack_bar!$C$7:$G$7</c:f>
              <c:numCache>
                <c:formatCode>General</c:formatCode>
                <c:ptCount val="5"/>
                <c:pt idx="0">
                  <c:v>30</c:v>
                </c:pt>
                <c:pt idx="1">
                  <c:v>24</c:v>
                </c:pt>
                <c:pt idx="2">
                  <c:v>23</c:v>
                </c:pt>
                <c:pt idx="3">
                  <c:v>17</c:v>
                </c:pt>
                <c:pt idx="4">
                  <c:v>41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D672-450A-A6A9-53C438AD5F7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overlap val="100"/>
        <c:axId val="683397743"/>
        <c:axId val="683398223"/>
      </c:barChart>
      <c:catAx>
        <c:axId val="683397743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noFill/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pPr>
            <a:endParaRPr lang="en-US"/>
          </a:p>
        </c:txPr>
        <c:crossAx val="683398223"/>
        <c:crosses val="autoZero"/>
        <c:auto val="1"/>
        <c:lblAlgn val="ctr"/>
        <c:lblOffset val="100"/>
        <c:noMultiLvlLbl val="0"/>
      </c:catAx>
      <c:valAx>
        <c:axId val="683398223"/>
        <c:scaling>
          <c:orientation val="minMax"/>
        </c:scaling>
        <c:delete val="0"/>
        <c:axPos val="b"/>
        <c:numFmt formatCode="0%" sourceLinked="1"/>
        <c:majorTickMark val="none"/>
        <c:minorTickMark val="none"/>
        <c:tickLblPos val="high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pPr>
            <a:endParaRPr lang="en-US"/>
          </a:p>
        </c:txPr>
        <c:crossAx val="683397743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 w="9525" cap="flat" cmpd="sng" algn="ctr">
      <a:noFill/>
      <a:round/>
    </a:ln>
    <a:effectLst/>
  </c:spPr>
  <c:txPr>
    <a:bodyPr/>
    <a:lstStyle/>
    <a:p>
      <a:pPr>
        <a:defRPr>
          <a:latin typeface="Roboto" panose="02000000000000000000" pitchFamily="2" charset="0"/>
          <a:ea typeface="Roboto" panose="02000000000000000000" pitchFamily="2" charset="0"/>
        </a:defRPr>
      </a:pPr>
      <a:endParaRPr lang="en-US"/>
    </a:p>
  </c:txPr>
  <c:externalData r:id="rId3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Pie_donut!$C$2</c:f>
              <c:strCache>
                <c:ptCount val="1"/>
                <c:pt idx="0">
                  <c:v>Survey item A</c:v>
                </c:pt>
              </c:strCache>
            </c:strRef>
          </c:tx>
          <c:spPr>
            <a:solidFill>
              <a:srgbClr val="5B73C4"/>
            </a:solidFill>
            <a:ln>
              <a:noFill/>
            </a:ln>
          </c:spPr>
          <c:dPt>
            <c:idx val="0"/>
            <c:bubble3D val="0"/>
            <c:spPr>
              <a:solidFill>
                <a:srgbClr val="F5F6FA"/>
              </a:solidFill>
              <a:ln w="1905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68DD-4938-8E85-5CB4173B2E0C}"/>
              </c:ext>
            </c:extLst>
          </c:dPt>
          <c:dPt>
            <c:idx val="1"/>
            <c:bubble3D val="0"/>
            <c:spPr>
              <a:solidFill>
                <a:schemeClr val="bg1">
                  <a:lumMod val="85000"/>
                </a:schemeClr>
              </a:solidFill>
              <a:ln w="1905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68DD-4938-8E85-5CB4173B2E0C}"/>
              </c:ext>
            </c:extLst>
          </c:dPt>
          <c:dPt>
            <c:idx val="2"/>
            <c:bubble3D val="0"/>
            <c:spPr>
              <a:solidFill>
                <a:srgbClr val="A8B4DE"/>
              </a:solidFill>
              <a:ln w="1905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68DD-4938-8E85-5CB4173B2E0C}"/>
              </c:ext>
            </c:extLst>
          </c:dPt>
          <c:cat>
            <c:strRef>
              <c:f>Pie_donut!$B$3:$B$5</c:f>
              <c:strCache>
                <c:ptCount val="3"/>
                <c:pt idx="0">
                  <c:v>A</c:v>
                </c:pt>
                <c:pt idx="1">
                  <c:v>B</c:v>
                </c:pt>
                <c:pt idx="2">
                  <c:v>C</c:v>
                </c:pt>
              </c:strCache>
            </c:strRef>
          </c:cat>
          <c:val>
            <c:numRef>
              <c:f>Pie_donut!$C$3:$C$5</c:f>
              <c:numCache>
                <c:formatCode>General</c:formatCode>
                <c:ptCount val="3"/>
                <c:pt idx="0">
                  <c:v>5</c:v>
                </c:pt>
                <c:pt idx="1">
                  <c:v>10</c:v>
                </c:pt>
                <c:pt idx="2">
                  <c:v>90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8DD-4938-8E85-5CB4173B2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 w="9525" cap="flat" cmpd="sng" algn="ctr">
      <a:noFill/>
      <a:round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doughnutChart>
        <c:varyColors val="1"/>
        <c:ser>
          <c:idx val="0"/>
          <c:order val="0"/>
          <c:tx>
            <c:strRef>
              <c:f>Pie_donut!$C$2</c:f>
              <c:strCache>
                <c:ptCount val="1"/>
                <c:pt idx="0">
                  <c:v>Survey item A</c:v>
                </c:pt>
              </c:strCache>
            </c:strRef>
          </c:tx>
          <c:spPr>
            <a:solidFill>
              <a:srgbClr val="5B73C4"/>
            </a:solidFill>
            <a:ln>
              <a:noFill/>
            </a:ln>
          </c:spPr>
          <c:dPt>
            <c:idx val="0"/>
            <c:bubble3D val="0"/>
            <c:spPr>
              <a:solidFill>
                <a:srgbClr val="F5F6FA"/>
              </a:solidFill>
              <a:ln w="1905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9B66-4B13-9953-58A998207256}"/>
              </c:ext>
            </c:extLst>
          </c:dPt>
          <c:dPt>
            <c:idx val="1"/>
            <c:bubble3D val="0"/>
            <c:spPr>
              <a:solidFill>
                <a:schemeClr val="bg1">
                  <a:lumMod val="85000"/>
                </a:schemeClr>
              </a:solidFill>
              <a:ln w="1905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9B66-4B13-9953-58A998207256}"/>
              </c:ext>
            </c:extLst>
          </c:dPt>
          <c:dPt>
            <c:idx val="2"/>
            <c:bubble3D val="0"/>
            <c:spPr>
              <a:solidFill>
                <a:srgbClr val="A8B4DE"/>
              </a:solidFill>
              <a:ln w="1905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9B66-4B13-9953-58A998207256}"/>
              </c:ext>
            </c:extLst>
          </c:dPt>
          <c:cat>
            <c:strRef>
              <c:f>Pie_donut!$B$3:$B$5</c:f>
              <c:strCache>
                <c:ptCount val="3"/>
                <c:pt idx="0">
                  <c:v>A</c:v>
                </c:pt>
                <c:pt idx="1">
                  <c:v>B</c:v>
                </c:pt>
                <c:pt idx="2">
                  <c:v>C</c:v>
                </c:pt>
              </c:strCache>
            </c:strRef>
          </c:cat>
          <c:val>
            <c:numRef>
              <c:f>Pie_donut!$C$3:$C$5</c:f>
              <c:numCache>
                <c:formatCode>General</c:formatCode>
                <c:ptCount val="3"/>
                <c:pt idx="0">
                  <c:v>5</c:v>
                </c:pt>
                <c:pt idx="1">
                  <c:v>10</c:v>
                </c:pt>
                <c:pt idx="2">
                  <c:v>90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9B66-4B13-9953-58A99820725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 w="9525" cap="flat" cmpd="sng" algn="ctr">
      <a:noFill/>
      <a:round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0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DB8716-8EE1-F364-C4D8-D1FF74088EF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DE34686-3E2B-3B04-1F57-B16CD5F5119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B7394E-7E74-9B89-B7F4-5534274793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4D4E4F-4EA3-4E03-A869-75AB751DA492}" type="datetimeFigureOut">
              <a:rPr lang="en-US" smtClean="0"/>
              <a:t>2026-05-23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74FCC5-934C-59FD-F043-5698EEC285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9572F7-D348-9D08-5165-C5690C0B4C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F3FA3D-EF7C-4AE8-856C-337E37C20A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76452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5B67F8-CD6D-05C1-5DA7-F6C9CE628C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DA7252-7A62-FDD8-F266-601ED662B0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C90D6F-265C-BB35-CE9B-94B9E32A77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4D4E4F-4EA3-4E03-A869-75AB751DA492}" type="datetimeFigureOut">
              <a:rPr lang="en-US" smtClean="0"/>
              <a:t>2026-05-23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910EA5-E222-CC84-E0C5-1A2EC668D5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01476D-0A4F-8397-E5CC-208B0AC9D1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F3FA3D-EF7C-4AE8-856C-337E37C20A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84870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B444EA-3F30-7D4A-C033-9F35CFFEE9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283BEB-C564-2686-FCB6-A116FED9BA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F1E935E-DEBC-1300-AD65-24647576D9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4D4E4F-4EA3-4E03-A869-75AB751DA492}" type="datetimeFigureOut">
              <a:rPr lang="en-US" smtClean="0"/>
              <a:t>2026-05-23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EAF7DE-38B5-B018-7AE2-C6A0CA96D6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54C86B-6BEA-996A-8BA2-1074B27F19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F3FA3D-EF7C-4AE8-856C-337E37C20A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52172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E7CF3-6299-82A4-89F6-2E5918C011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92DEC0-8D0E-2EF6-6DEF-301C91FAB83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CF0FBB-2D40-145D-5BEC-2786297B5C1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D596E1-5226-30F6-6D48-6DC56BDBB1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4D4E4F-4EA3-4E03-A869-75AB751DA492}" type="datetimeFigureOut">
              <a:rPr lang="en-US" smtClean="0"/>
              <a:t>2026-05-23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5A543AA-E47B-3EE6-71D9-F3E5F60721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100AD8D-9400-FB47-4FA4-30F12F78F2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F3FA3D-EF7C-4AE8-856C-337E37C20A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56848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EAA24A-65C8-CFEF-9307-5D03DBE58D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796031B-42E6-ABF2-BDD2-2E693E6B7A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4F2E0A-817F-13D6-CB7F-DC0EE46F4BC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B627397-D23D-7BC3-778C-807B95089B7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6E50CCB-F868-C538-807B-9E6C1897E2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F7EBF4B-A643-B1D0-460B-38EB2F44B6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4D4E4F-4EA3-4E03-A869-75AB751DA492}" type="datetimeFigureOut">
              <a:rPr lang="en-US" smtClean="0"/>
              <a:t>2026-05-23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DA0AD69-F76A-020F-55E5-99719AD8A2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C3550CD-D7A7-7C0A-9BE3-895F77F85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F3FA3D-EF7C-4AE8-856C-337E37C20A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69156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04FEF3-BE1E-8808-32DF-7D9E65F601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FE199D6-F006-4837-338E-AD80BEE11A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4D4E4F-4EA3-4E03-A869-75AB751DA492}" type="datetimeFigureOut">
              <a:rPr lang="en-US" smtClean="0"/>
              <a:t>2026-05-23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685F57-5355-DA97-B948-F62D3FD4C4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1A86E34-A3F7-7C78-2697-BB491CCD5E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F3FA3D-EF7C-4AE8-856C-337E37C20A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93243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8B5B201-2DE9-E296-E962-6A0E3F9FBE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4D4E4F-4EA3-4E03-A869-75AB751DA492}" type="datetimeFigureOut">
              <a:rPr lang="en-US" smtClean="0"/>
              <a:t>2026-05-23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2F73734-1A35-D5A6-9C07-E6D8A162CE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A0574B-0139-A866-2B42-1661485FC2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F3FA3D-EF7C-4AE8-856C-337E37C20A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63233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0B88FD-99CE-6514-61B9-C05459E38A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44D0F2-AB06-A810-F937-11DDA6874D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D543864-2547-C108-FAB2-B3A12E2B54F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B3538A-AC26-3F04-9230-544B183256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4D4E4F-4EA3-4E03-A869-75AB751DA492}" type="datetimeFigureOut">
              <a:rPr lang="en-US" smtClean="0"/>
              <a:t>2026-05-23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4EE5621-5944-73CD-0F1E-FB069334CA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66085D-2804-6A60-704D-C0CCE3FB0D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F3FA3D-EF7C-4AE8-856C-337E37C20A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68405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47E702-87E6-5F8F-9272-3960771159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7B9CD4C-68C2-342E-FF4A-0D59D567165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1491BA0-0372-6456-A4F4-E21B94CB61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7BCCDBD-5595-8C8B-89AF-354E9070BF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4D4E4F-4EA3-4E03-A869-75AB751DA492}" type="datetimeFigureOut">
              <a:rPr lang="en-US" smtClean="0"/>
              <a:t>2026-05-23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DAACA19-F9ED-6AFE-4C88-7E14E60987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7E3E7BE-E805-BB81-D1E1-CF103FD458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F3FA3D-EF7C-4AE8-856C-337E37C20A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92863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5A81C8-FB38-DB4C-45B0-9921CDC10E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1F9E8BF-FDA2-D62F-F8CA-CA074FAFF40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31036F-0808-4A67-E083-800CF7803F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4D4E4F-4EA3-4E03-A869-75AB751DA492}" type="datetimeFigureOut">
              <a:rPr lang="en-US" smtClean="0"/>
              <a:t>2026-05-23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0B4CDD-C48F-1499-B81D-58B438D5FC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2E5FCC-7C4A-2CB2-2E7C-0C5D36A2E0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F3FA3D-EF7C-4AE8-856C-337E37C20A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15216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516EDBD-806F-2184-64CD-93D8F673250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8F2B704-35B5-7D74-65D8-6C31CCD13BE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9C4975-7215-3DBA-D85B-D5A86DAAA0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4D4E4F-4EA3-4E03-A869-75AB751DA492}" type="datetimeFigureOut">
              <a:rPr lang="en-US" smtClean="0"/>
              <a:t>2026-05-23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C79FCB-5283-37E2-635A-E063DF4ABE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F9ED10-50E2-5111-C214-2EC4F602CD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F3FA3D-EF7C-4AE8-856C-337E37C20A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2224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B2E5665-B26D-09D2-C5FC-B688CDD8AD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FAE506-E05D-D3AF-98A6-5A31ED02AC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911291-EC7C-3294-BFD0-240C65239B5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64D4E4F-4EA3-4E03-A869-75AB751DA492}" type="datetimeFigureOut">
              <a:rPr lang="en-US" smtClean="0"/>
              <a:t>2026-05-23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286B99-1670-624E-63AC-16968C21B6F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112AA4-3F95-2B98-A479-0B215F2A0E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3F3FA3D-EF7C-4AE8-856C-337E37C20A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15552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Relationship Id="rId4" Type="http://schemas.openxmlformats.org/officeDocument/2006/relationships/chart" Target="../charts/char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.xml"/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2.xml"/><Relationship Id="rId4" Type="http://schemas.openxmlformats.org/officeDocument/2006/relationships/chart" Target="../charts/char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hart" Target="../charts/chart8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../charts/chart9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0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emf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4" name="Picture 103">
            <a:extLst>
              <a:ext uri="{FF2B5EF4-FFF2-40B4-BE49-F238E27FC236}">
                <a16:creationId xmlns:a16="http://schemas.microsoft.com/office/drawing/2014/main" id="{6644EC07-B138-EB12-8B4E-01E223283C6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67692" y="130394"/>
            <a:ext cx="836598" cy="836598"/>
          </a:xfrm>
          <a:prstGeom prst="rect">
            <a:avLst/>
          </a:prstGeom>
          <a:noFill/>
        </p:spPr>
      </p:pic>
      <p:sp>
        <p:nvSpPr>
          <p:cNvPr id="4" name="TextBox 1">
            <a:extLst>
              <a:ext uri="{FF2B5EF4-FFF2-40B4-BE49-F238E27FC236}">
                <a16:creationId xmlns:a16="http://schemas.microsoft.com/office/drawing/2014/main" id="{CD1F9111-C6F6-9EE7-B4D6-4ED17EEE6ACC}"/>
              </a:ext>
            </a:extLst>
          </p:cNvPr>
          <p:cNvSpPr txBox="1"/>
          <p:nvPr/>
        </p:nvSpPr>
        <p:spPr>
          <a:xfrm>
            <a:off x="5287961" y="3038475"/>
            <a:ext cx="1695450" cy="679450"/>
          </a:xfrm>
          <a:prstGeom prst="rect">
            <a:avLst/>
          </a:prstGeom>
          <a:noFill/>
          <a:ln>
            <a:solidFill>
              <a:srgbClr val="0D1A63"/>
            </a:solidFill>
          </a:ln>
        </p:spPr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400" b="1">
                <a:solidFill>
                  <a:srgbClr val="0D1A6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What would you
like to show?</a:t>
            </a:r>
          </a:p>
        </p:txBody>
      </p:sp>
      <p:sp>
        <p:nvSpPr>
          <p:cNvPr id="5" name="TextBox 3">
            <a:extLst>
              <a:ext uri="{FF2B5EF4-FFF2-40B4-BE49-F238E27FC236}">
                <a16:creationId xmlns:a16="http://schemas.microsoft.com/office/drawing/2014/main" id="{2AB57A5D-F737-4EED-F891-AD4B578EF187}"/>
              </a:ext>
            </a:extLst>
          </p:cNvPr>
          <p:cNvSpPr txBox="1"/>
          <p:nvPr/>
        </p:nvSpPr>
        <p:spPr>
          <a:xfrm>
            <a:off x="5287961" y="2473325"/>
            <a:ext cx="1695450" cy="260350"/>
          </a:xfrm>
          <a:prstGeom prst="rect">
            <a:avLst/>
          </a:prstGeom>
          <a:noFill/>
          <a:ln>
            <a:solidFill>
              <a:srgbClr val="0D1A63"/>
            </a:solidFill>
          </a:ln>
        </p:spPr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0" lang="en-US" sz="1100" b="1" i="0" u="none" strike="noStrike" kern="0" cap="none" spc="0" normalizeH="0" baseline="0" noProof="0">
                <a:ln>
                  <a:noFill/>
                </a:ln>
                <a:solidFill>
                  <a:srgbClr val="0D1A63"/>
                </a:solidFill>
                <a:effectLst/>
                <a:uLnTx/>
                <a:uFillTx/>
                <a:latin typeface="Roboto" panose="02000000000000000000" pitchFamily="2" charset="0"/>
                <a:ea typeface="Roboto" panose="02000000000000000000" pitchFamily="2" charset="0"/>
              </a:rPr>
              <a:t>COMPARISON</a:t>
            </a:r>
          </a:p>
        </p:txBody>
      </p:sp>
      <p:sp>
        <p:nvSpPr>
          <p:cNvPr id="6" name="TextBox 4">
            <a:extLst>
              <a:ext uri="{FF2B5EF4-FFF2-40B4-BE49-F238E27FC236}">
                <a16:creationId xmlns:a16="http://schemas.microsoft.com/office/drawing/2014/main" id="{BF9FE2F6-C345-1695-780E-DAC6C4C77EC2}"/>
              </a:ext>
            </a:extLst>
          </p:cNvPr>
          <p:cNvSpPr txBox="1"/>
          <p:nvPr/>
        </p:nvSpPr>
        <p:spPr>
          <a:xfrm>
            <a:off x="7221536" y="3251200"/>
            <a:ext cx="1279527" cy="254000"/>
          </a:xfrm>
          <a:prstGeom prst="rect">
            <a:avLst/>
          </a:prstGeom>
          <a:noFill/>
          <a:ln>
            <a:solidFill>
              <a:srgbClr val="F68048"/>
            </a:solidFill>
          </a:ln>
        </p:spPr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b="1" kern="0">
                <a:solidFill>
                  <a:srgbClr val="F68048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DISTRIBUTION</a:t>
            </a:r>
          </a:p>
        </p:txBody>
      </p:sp>
      <p:sp>
        <p:nvSpPr>
          <p:cNvPr id="7" name="TextBox 5">
            <a:extLst>
              <a:ext uri="{FF2B5EF4-FFF2-40B4-BE49-F238E27FC236}">
                <a16:creationId xmlns:a16="http://schemas.microsoft.com/office/drawing/2014/main" id="{92C11C62-BB79-68A4-9C94-19534B0FD94D}"/>
              </a:ext>
            </a:extLst>
          </p:cNvPr>
          <p:cNvSpPr txBox="1"/>
          <p:nvPr/>
        </p:nvSpPr>
        <p:spPr>
          <a:xfrm>
            <a:off x="3770310" y="3251200"/>
            <a:ext cx="1279526" cy="254000"/>
          </a:xfrm>
          <a:prstGeom prst="rect">
            <a:avLst/>
          </a:prstGeom>
          <a:noFill/>
          <a:ln>
            <a:solidFill>
              <a:srgbClr val="D95B00"/>
            </a:solidFill>
          </a:ln>
        </p:spPr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0" lang="en-US" sz="1100" b="1" i="0" u="none" strike="noStrike" kern="0" cap="none" spc="0" normalizeH="0" baseline="0" noProof="0">
                <a:ln>
                  <a:noFill/>
                </a:ln>
                <a:solidFill>
                  <a:srgbClr val="F68048"/>
                </a:solidFill>
                <a:effectLst/>
                <a:uLnTx/>
                <a:uFillTx/>
                <a:latin typeface="Roboto" panose="02000000000000000000" pitchFamily="2" charset="0"/>
                <a:ea typeface="Roboto" panose="02000000000000000000" pitchFamily="2" charset="0"/>
              </a:rPr>
              <a:t>RELATIONSHIP</a:t>
            </a:r>
          </a:p>
        </p:txBody>
      </p:sp>
      <p:sp>
        <p:nvSpPr>
          <p:cNvPr id="8" name="TextBox 6">
            <a:extLst>
              <a:ext uri="{FF2B5EF4-FFF2-40B4-BE49-F238E27FC236}">
                <a16:creationId xmlns:a16="http://schemas.microsoft.com/office/drawing/2014/main" id="{ED7144E9-5BED-3BEF-2CB8-EC11BB80A71E}"/>
              </a:ext>
            </a:extLst>
          </p:cNvPr>
          <p:cNvSpPr txBox="1"/>
          <p:nvPr/>
        </p:nvSpPr>
        <p:spPr>
          <a:xfrm>
            <a:off x="5287963" y="4022725"/>
            <a:ext cx="1695448" cy="260350"/>
          </a:xfrm>
          <a:prstGeom prst="rect">
            <a:avLst/>
          </a:prstGeom>
          <a:noFill/>
          <a:ln>
            <a:solidFill>
              <a:srgbClr val="2E8B6E"/>
            </a:solidFill>
          </a:ln>
        </p:spPr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0" lang="en-US" sz="1100" b="1" i="0" u="none" strike="noStrike" kern="0" cap="none" spc="0" normalizeH="0" baseline="0" noProof="0">
                <a:ln>
                  <a:noFill/>
                </a:ln>
                <a:solidFill>
                  <a:srgbClr val="0D1A63"/>
                </a:solidFill>
                <a:effectLst/>
                <a:uLnTx/>
                <a:uFillTx/>
                <a:latin typeface="Roboto" panose="02000000000000000000" pitchFamily="2" charset="0"/>
                <a:ea typeface="Roboto" panose="02000000000000000000" pitchFamily="2" charset="0"/>
              </a:rPr>
              <a:t>COMPOSITION</a:t>
            </a:r>
          </a:p>
        </p:txBody>
      </p:sp>
      <p:sp>
        <p:nvSpPr>
          <p:cNvPr id="15" name="TextBox 13">
            <a:extLst>
              <a:ext uri="{FF2B5EF4-FFF2-40B4-BE49-F238E27FC236}">
                <a16:creationId xmlns:a16="http://schemas.microsoft.com/office/drawing/2014/main" id="{210C4F70-359B-E68E-0832-FBA44E37B0D3}"/>
              </a:ext>
            </a:extLst>
          </p:cNvPr>
          <p:cNvSpPr txBox="1"/>
          <p:nvPr/>
        </p:nvSpPr>
        <p:spPr>
          <a:xfrm>
            <a:off x="10370557" y="2903264"/>
            <a:ext cx="1008642" cy="233149"/>
          </a:xfrm>
          <a:prstGeom prst="rect">
            <a:avLst/>
          </a:prstGeom>
          <a:noFill/>
          <a:ln>
            <a:noFill/>
          </a:ln>
        </p:spPr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0" lang="en-US" sz="1100" b="1" i="0" u="none" strike="noStrike" kern="0" cap="none" spc="0" normalizeH="0" baseline="0" noProof="0">
                <a:ln>
                  <a:noFill/>
                </a:ln>
                <a:solidFill>
                  <a:srgbClr val="F68048"/>
                </a:solidFill>
                <a:effectLst/>
                <a:uLnTx/>
                <a:uFillTx/>
                <a:latin typeface="Roboto" panose="02000000000000000000" pitchFamily="2" charset="0"/>
                <a:ea typeface="Roboto" panose="02000000000000000000" pitchFamily="2" charset="0"/>
              </a:rPr>
              <a:t>HISTOGRAM</a:t>
            </a:r>
          </a:p>
        </p:txBody>
      </p:sp>
      <p:sp>
        <p:nvSpPr>
          <p:cNvPr id="16" name="TextBox 14">
            <a:extLst>
              <a:ext uri="{FF2B5EF4-FFF2-40B4-BE49-F238E27FC236}">
                <a16:creationId xmlns:a16="http://schemas.microsoft.com/office/drawing/2014/main" id="{78131791-2CC4-2F2C-090F-9A4EE6FE1C37}"/>
              </a:ext>
            </a:extLst>
          </p:cNvPr>
          <p:cNvSpPr txBox="1"/>
          <p:nvPr/>
        </p:nvSpPr>
        <p:spPr>
          <a:xfrm>
            <a:off x="10343354" y="3508375"/>
            <a:ext cx="1399385" cy="266700"/>
          </a:xfrm>
          <a:prstGeom prst="rect">
            <a:avLst/>
          </a:prstGeom>
          <a:noFill/>
          <a:ln>
            <a:noFill/>
          </a:ln>
        </p:spPr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0" lang="en-US" sz="1100" b="1" i="0" u="none" strike="noStrike" kern="0" cap="none" spc="0" normalizeH="0" baseline="0" noProof="0">
                <a:ln>
                  <a:noFill/>
                </a:ln>
                <a:solidFill>
                  <a:srgbClr val="F68048"/>
                </a:solidFill>
                <a:effectLst/>
                <a:uLnTx/>
                <a:uFillTx/>
                <a:latin typeface="Roboto" panose="02000000000000000000" pitchFamily="2" charset="0"/>
                <a:ea typeface="Roboto" panose="02000000000000000000" pitchFamily="2" charset="0"/>
              </a:rPr>
              <a:t>BOX &amp; WHISKERS</a:t>
            </a:r>
          </a:p>
        </p:txBody>
      </p:sp>
      <p:sp>
        <p:nvSpPr>
          <p:cNvPr id="17" name="TextBox 15">
            <a:extLst>
              <a:ext uri="{FF2B5EF4-FFF2-40B4-BE49-F238E27FC236}">
                <a16:creationId xmlns:a16="http://schemas.microsoft.com/office/drawing/2014/main" id="{77A8DDD8-78FE-C563-4F85-B9E621BA75F0}"/>
              </a:ext>
            </a:extLst>
          </p:cNvPr>
          <p:cNvSpPr txBox="1"/>
          <p:nvPr/>
        </p:nvSpPr>
        <p:spPr>
          <a:xfrm>
            <a:off x="918359" y="5845450"/>
            <a:ext cx="1524000" cy="248846"/>
          </a:xfrm>
          <a:prstGeom prst="rect">
            <a:avLst/>
          </a:prstGeom>
          <a:noFill/>
          <a:ln>
            <a:noFill/>
          </a:ln>
        </p:spPr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0" lang="en-US" sz="1100" b="1" i="0" u="none" strike="noStrike" kern="0" cap="none" spc="0" normalizeH="0" baseline="0" noProof="0">
                <a:ln>
                  <a:noFill/>
                </a:ln>
                <a:solidFill>
                  <a:srgbClr val="0D1A63"/>
                </a:solidFill>
                <a:effectLst/>
                <a:uLnTx/>
                <a:uFillTx/>
                <a:latin typeface="Roboto" panose="02000000000000000000" pitchFamily="2" charset="0"/>
                <a:ea typeface="Roboto" panose="02000000000000000000" pitchFamily="2" charset="0"/>
              </a:rPr>
              <a:t>DONUT</a:t>
            </a:r>
          </a:p>
        </p:txBody>
      </p:sp>
      <p:sp>
        <p:nvSpPr>
          <p:cNvPr id="18" name="TextBox 16">
            <a:extLst>
              <a:ext uri="{FF2B5EF4-FFF2-40B4-BE49-F238E27FC236}">
                <a16:creationId xmlns:a16="http://schemas.microsoft.com/office/drawing/2014/main" id="{CF5FE843-14BD-1B88-CBD7-C2FB3884CBCE}"/>
              </a:ext>
            </a:extLst>
          </p:cNvPr>
          <p:cNvSpPr txBox="1"/>
          <p:nvPr/>
        </p:nvSpPr>
        <p:spPr>
          <a:xfrm>
            <a:off x="3032533" y="5842399"/>
            <a:ext cx="934237" cy="241105"/>
          </a:xfrm>
          <a:prstGeom prst="rect">
            <a:avLst/>
          </a:prstGeom>
          <a:noFill/>
          <a:ln>
            <a:noFill/>
          </a:ln>
        </p:spPr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0" lang="en-US" sz="1100" b="1" i="0" u="none" strike="noStrike" kern="0" cap="none" spc="0" normalizeH="0" baseline="0" noProof="0">
                <a:ln>
                  <a:noFill/>
                </a:ln>
                <a:solidFill>
                  <a:srgbClr val="0D1A63"/>
                </a:solidFill>
                <a:effectLst/>
                <a:uLnTx/>
                <a:uFillTx/>
                <a:latin typeface="Roboto" panose="02000000000000000000" pitchFamily="2" charset="0"/>
                <a:ea typeface="Roboto" panose="02000000000000000000" pitchFamily="2" charset="0"/>
              </a:rPr>
              <a:t>TREE MAP</a:t>
            </a:r>
          </a:p>
        </p:txBody>
      </p:sp>
      <p:sp>
        <p:nvSpPr>
          <p:cNvPr id="19" name="TextBox 17">
            <a:extLst>
              <a:ext uri="{FF2B5EF4-FFF2-40B4-BE49-F238E27FC236}">
                <a16:creationId xmlns:a16="http://schemas.microsoft.com/office/drawing/2014/main" id="{3B5BC2CE-5AFB-2B83-88FC-748585495EB8}"/>
              </a:ext>
            </a:extLst>
          </p:cNvPr>
          <p:cNvSpPr txBox="1"/>
          <p:nvPr/>
        </p:nvSpPr>
        <p:spPr>
          <a:xfrm>
            <a:off x="5014529" y="5678805"/>
            <a:ext cx="874698" cy="457200"/>
          </a:xfrm>
          <a:prstGeom prst="rect">
            <a:avLst/>
          </a:prstGeom>
          <a:noFill/>
          <a:ln>
            <a:noFill/>
          </a:ln>
        </p:spPr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0" lang="en-US" sz="1100" b="1" i="0" u="none" strike="noStrike" kern="0" cap="none" spc="0" normalizeH="0" baseline="0" noProof="0">
                <a:ln>
                  <a:noFill/>
                </a:ln>
                <a:solidFill>
                  <a:srgbClr val="0D1A63"/>
                </a:solidFill>
                <a:effectLst/>
                <a:uLnTx/>
                <a:uFillTx/>
                <a:latin typeface="Roboto" panose="02000000000000000000" pitchFamily="2" charset="0"/>
                <a:ea typeface="Roboto" panose="02000000000000000000" pitchFamily="2" charset="0"/>
              </a:rPr>
              <a:t>STACKED </a:t>
            </a:r>
            <a:br>
              <a:rPr kumimoji="0" lang="en-US" sz="1100" b="1" i="0" u="none" strike="noStrike" kern="0" cap="none" spc="0" normalizeH="0" baseline="0" noProof="0">
                <a:ln>
                  <a:noFill/>
                </a:ln>
                <a:solidFill>
                  <a:srgbClr val="0D1A63"/>
                </a:solidFill>
                <a:effectLst/>
                <a:uLnTx/>
                <a:uFillTx/>
                <a:latin typeface="Roboto" panose="02000000000000000000" pitchFamily="2" charset="0"/>
                <a:ea typeface="Roboto" panose="02000000000000000000" pitchFamily="2" charset="0"/>
              </a:rPr>
            </a:br>
            <a:r>
              <a:rPr kumimoji="0" lang="en-US" sz="1100" b="1" i="0" u="none" strike="noStrike" kern="0" cap="none" spc="0" normalizeH="0" baseline="0" noProof="0">
                <a:ln>
                  <a:noFill/>
                </a:ln>
                <a:solidFill>
                  <a:srgbClr val="0D1A63"/>
                </a:solidFill>
                <a:effectLst/>
                <a:uLnTx/>
                <a:uFillTx/>
                <a:latin typeface="Roboto" panose="02000000000000000000" pitchFamily="2" charset="0"/>
                <a:ea typeface="Roboto" panose="02000000000000000000" pitchFamily="2" charset="0"/>
              </a:rPr>
              <a:t>COLUMN</a:t>
            </a:r>
          </a:p>
        </p:txBody>
      </p:sp>
      <p:sp>
        <p:nvSpPr>
          <p:cNvPr id="20" name="TextBox 18">
            <a:extLst>
              <a:ext uri="{FF2B5EF4-FFF2-40B4-BE49-F238E27FC236}">
                <a16:creationId xmlns:a16="http://schemas.microsoft.com/office/drawing/2014/main" id="{1687E7BD-99A5-CDA3-AD38-839BAF5BC681}"/>
              </a:ext>
            </a:extLst>
          </p:cNvPr>
          <p:cNvSpPr txBox="1"/>
          <p:nvPr/>
        </p:nvSpPr>
        <p:spPr>
          <a:xfrm>
            <a:off x="7185847" y="5680072"/>
            <a:ext cx="854052" cy="457200"/>
          </a:xfrm>
          <a:prstGeom prst="rect">
            <a:avLst/>
          </a:prstGeom>
          <a:noFill/>
          <a:ln>
            <a:noFill/>
          </a:ln>
        </p:spPr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0" lang="en-US" sz="1100" b="1" i="0" u="none" strike="noStrike" kern="0" cap="none" spc="0" normalizeH="0" baseline="0" noProof="0">
                <a:ln>
                  <a:noFill/>
                </a:ln>
                <a:solidFill>
                  <a:srgbClr val="0D1A63"/>
                </a:solidFill>
                <a:effectLst/>
                <a:uLnTx/>
                <a:uFillTx/>
                <a:latin typeface="Roboto" panose="02000000000000000000" pitchFamily="2" charset="0"/>
                <a:ea typeface="Roboto" panose="02000000000000000000" pitchFamily="2" charset="0"/>
              </a:rPr>
              <a:t>STACKED </a:t>
            </a:r>
            <a:br>
              <a:rPr kumimoji="0" lang="en-US" sz="1100" b="1" i="0" u="none" strike="noStrike" kern="0" cap="none" spc="0" normalizeH="0" baseline="0" noProof="0">
                <a:ln>
                  <a:noFill/>
                </a:ln>
                <a:solidFill>
                  <a:srgbClr val="0D1A63"/>
                </a:solidFill>
                <a:effectLst/>
                <a:uLnTx/>
                <a:uFillTx/>
                <a:latin typeface="Roboto" panose="02000000000000000000" pitchFamily="2" charset="0"/>
                <a:ea typeface="Roboto" panose="02000000000000000000" pitchFamily="2" charset="0"/>
              </a:rPr>
            </a:br>
            <a:r>
              <a:rPr kumimoji="0" lang="en-US" sz="1100" b="1" i="0" u="none" strike="noStrike" kern="0" cap="none" spc="0" normalizeH="0" baseline="0" noProof="0">
                <a:ln>
                  <a:noFill/>
                </a:ln>
                <a:solidFill>
                  <a:srgbClr val="0D1A63"/>
                </a:solidFill>
                <a:effectLst/>
                <a:uLnTx/>
                <a:uFillTx/>
                <a:latin typeface="Roboto" panose="02000000000000000000" pitchFamily="2" charset="0"/>
                <a:ea typeface="Roboto" panose="02000000000000000000" pitchFamily="2" charset="0"/>
              </a:rPr>
              <a:t>AREA</a:t>
            </a:r>
          </a:p>
        </p:txBody>
      </p:sp>
      <p:sp>
        <p:nvSpPr>
          <p:cNvPr id="21" name="TextBox 19">
            <a:extLst>
              <a:ext uri="{FF2B5EF4-FFF2-40B4-BE49-F238E27FC236}">
                <a16:creationId xmlns:a16="http://schemas.microsoft.com/office/drawing/2014/main" id="{C2DD1D4A-B2FB-63EC-9EB3-8772141F6E2D}"/>
              </a:ext>
            </a:extLst>
          </p:cNvPr>
          <p:cNvSpPr txBox="1"/>
          <p:nvPr/>
        </p:nvSpPr>
        <p:spPr>
          <a:xfrm>
            <a:off x="8458205" y="5707047"/>
            <a:ext cx="854052" cy="395281"/>
          </a:xfrm>
          <a:prstGeom prst="rect">
            <a:avLst/>
          </a:prstGeom>
          <a:noFill/>
          <a:ln>
            <a:noFill/>
          </a:ln>
        </p:spPr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0" lang="en-US" sz="1100" b="1" i="0" u="none" strike="noStrike" kern="0" cap="none" spc="0" normalizeH="0" baseline="0" noProof="0">
                <a:ln>
                  <a:noFill/>
                </a:ln>
                <a:solidFill>
                  <a:srgbClr val="0D1A63"/>
                </a:solidFill>
                <a:effectLst/>
                <a:uLnTx/>
                <a:uFillTx/>
                <a:latin typeface="Roboto" panose="02000000000000000000" pitchFamily="2" charset="0"/>
                <a:ea typeface="Roboto" panose="02000000000000000000" pitchFamily="2" charset="0"/>
              </a:rPr>
              <a:t>100% ST. </a:t>
            </a:r>
            <a:r>
              <a:rPr lang="en-US" b="1" kern="0">
                <a:solidFill>
                  <a:srgbClr val="0D1A6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COLUMN</a:t>
            </a:r>
          </a:p>
        </p:txBody>
      </p:sp>
      <p:sp>
        <p:nvSpPr>
          <p:cNvPr id="23" name="TextBox 21">
            <a:extLst>
              <a:ext uri="{FF2B5EF4-FFF2-40B4-BE49-F238E27FC236}">
                <a16:creationId xmlns:a16="http://schemas.microsoft.com/office/drawing/2014/main" id="{A5B5438A-BDEE-5813-6A28-C0DC84A33E27}"/>
              </a:ext>
            </a:extLst>
          </p:cNvPr>
          <p:cNvSpPr txBox="1"/>
          <p:nvPr/>
        </p:nvSpPr>
        <p:spPr>
          <a:xfrm>
            <a:off x="3402007" y="1920477"/>
            <a:ext cx="1203324" cy="254000"/>
          </a:xfrm>
          <a:prstGeom prst="rect">
            <a:avLst/>
          </a:prstGeom>
          <a:noFill/>
          <a:ln>
            <a:noFill/>
          </a:ln>
        </p:spPr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0" lang="en-US" sz="900" b="1" i="0" u="none" strike="noStrike" kern="0" cap="none" spc="0" normalizeH="0" baseline="0" noProof="0">
                <a:ln>
                  <a:noFill/>
                </a:ln>
                <a:solidFill>
                  <a:srgbClr val="0D1A63"/>
                </a:solidFill>
                <a:effectLst/>
                <a:uLnTx/>
                <a:uFillTx/>
                <a:latin typeface="Roboto" panose="02000000000000000000" pitchFamily="2" charset="0"/>
                <a:ea typeface="Roboto" panose="02000000000000000000" pitchFamily="2" charset="0"/>
              </a:rPr>
              <a:t>OF CATEGORIES</a:t>
            </a:r>
          </a:p>
        </p:txBody>
      </p:sp>
      <p:sp>
        <p:nvSpPr>
          <p:cNvPr id="25" name="TextBox 23">
            <a:extLst>
              <a:ext uri="{FF2B5EF4-FFF2-40B4-BE49-F238E27FC236}">
                <a16:creationId xmlns:a16="http://schemas.microsoft.com/office/drawing/2014/main" id="{F9A31CBF-F245-85C6-CB5D-EC9FB2219ADA}"/>
              </a:ext>
            </a:extLst>
          </p:cNvPr>
          <p:cNvSpPr txBox="1"/>
          <p:nvPr/>
        </p:nvSpPr>
        <p:spPr>
          <a:xfrm>
            <a:off x="6111880" y="5311769"/>
            <a:ext cx="758828" cy="241303"/>
          </a:xfrm>
          <a:prstGeom prst="rect">
            <a:avLst/>
          </a:prstGeom>
          <a:noFill/>
          <a:ln>
            <a:noFill/>
          </a:ln>
        </p:spPr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0" lang="en-US" sz="900" b="1" i="0" u="none" strike="noStrike" kern="0" cap="none" spc="0" normalizeH="0" baseline="0" noProof="0">
                <a:ln>
                  <a:noFill/>
                </a:ln>
                <a:solidFill>
                  <a:srgbClr val="0D1A63"/>
                </a:solidFill>
                <a:effectLst/>
                <a:uLnTx/>
                <a:uFillTx/>
                <a:latin typeface="Roboto" panose="02000000000000000000" pitchFamily="2" charset="0"/>
                <a:ea typeface="Roboto" panose="02000000000000000000" pitchFamily="2" charset="0"/>
              </a:rPr>
              <a:t>Discrete</a:t>
            </a:r>
          </a:p>
        </p:txBody>
      </p:sp>
      <p:sp>
        <p:nvSpPr>
          <p:cNvPr id="27" name="TextBox 25">
            <a:extLst>
              <a:ext uri="{FF2B5EF4-FFF2-40B4-BE49-F238E27FC236}">
                <a16:creationId xmlns:a16="http://schemas.microsoft.com/office/drawing/2014/main" id="{1D21845C-33D9-8089-839B-658EE1A59491}"/>
              </a:ext>
            </a:extLst>
          </p:cNvPr>
          <p:cNvSpPr txBox="1"/>
          <p:nvPr/>
        </p:nvSpPr>
        <p:spPr>
          <a:xfrm>
            <a:off x="2239960" y="2565400"/>
            <a:ext cx="909637" cy="457200"/>
          </a:xfrm>
          <a:prstGeom prst="rect">
            <a:avLst/>
          </a:prstGeom>
          <a:noFill/>
          <a:ln>
            <a:noFill/>
          </a:ln>
        </p:spPr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0" lang="en-US" sz="900" b="1" i="0" u="none" strike="noStrike" kern="0" cap="none" spc="0" normalizeH="0" baseline="0" noProof="0">
                <a:ln>
                  <a:noFill/>
                </a:ln>
                <a:solidFill>
                  <a:srgbClr val="F68048"/>
                </a:solidFill>
                <a:effectLst/>
                <a:uLnTx/>
                <a:uFillTx/>
                <a:latin typeface="Roboto" panose="02000000000000000000" pitchFamily="2" charset="0"/>
                <a:ea typeface="Roboto" panose="02000000000000000000" pitchFamily="2" charset="0"/>
              </a:rPr>
              <a:t>2 VARIABLES</a:t>
            </a:r>
          </a:p>
        </p:txBody>
      </p:sp>
      <p:sp>
        <p:nvSpPr>
          <p:cNvPr id="28" name="TextBox 26">
            <a:extLst>
              <a:ext uri="{FF2B5EF4-FFF2-40B4-BE49-F238E27FC236}">
                <a16:creationId xmlns:a16="http://schemas.microsoft.com/office/drawing/2014/main" id="{856DAE18-F589-42F0-C1B2-4BF3F68134E8}"/>
              </a:ext>
            </a:extLst>
          </p:cNvPr>
          <p:cNvSpPr txBox="1"/>
          <p:nvPr/>
        </p:nvSpPr>
        <p:spPr>
          <a:xfrm>
            <a:off x="2239960" y="3606800"/>
            <a:ext cx="909636" cy="457200"/>
          </a:xfrm>
          <a:prstGeom prst="rect">
            <a:avLst/>
          </a:prstGeom>
          <a:noFill/>
          <a:ln>
            <a:noFill/>
          </a:ln>
        </p:spPr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0" lang="en-US" sz="900" b="1" i="0" u="none" strike="noStrike" kern="0" cap="none" spc="0" normalizeH="0" baseline="0" noProof="0">
                <a:ln>
                  <a:noFill/>
                </a:ln>
                <a:solidFill>
                  <a:srgbClr val="F68048"/>
                </a:solidFill>
                <a:effectLst/>
                <a:uLnTx/>
                <a:uFillTx/>
                <a:latin typeface="Roboto" panose="02000000000000000000" pitchFamily="2" charset="0"/>
                <a:ea typeface="Roboto" panose="02000000000000000000" pitchFamily="2" charset="0"/>
              </a:rPr>
              <a:t>3 VARIABLES
(Continuous)</a:t>
            </a:r>
          </a:p>
        </p:txBody>
      </p:sp>
      <p:sp>
        <p:nvSpPr>
          <p:cNvPr id="29" name="TextBox 27">
            <a:extLst>
              <a:ext uri="{FF2B5EF4-FFF2-40B4-BE49-F238E27FC236}">
                <a16:creationId xmlns:a16="http://schemas.microsoft.com/office/drawing/2014/main" id="{17C5E8DE-ED2D-00EF-731F-9B4870078726}"/>
              </a:ext>
            </a:extLst>
          </p:cNvPr>
          <p:cNvSpPr txBox="1"/>
          <p:nvPr/>
        </p:nvSpPr>
        <p:spPr>
          <a:xfrm>
            <a:off x="3054350" y="4276725"/>
            <a:ext cx="1539878" cy="457200"/>
          </a:xfrm>
          <a:prstGeom prst="rect">
            <a:avLst/>
          </a:prstGeom>
          <a:noFill/>
          <a:ln>
            <a:noFill/>
          </a:ln>
        </p:spPr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0" lang="en-US" sz="900" b="1" i="0" u="none" strike="noStrike" kern="0" cap="none" spc="0" normalizeH="0" baseline="0" noProof="0">
                <a:ln>
                  <a:noFill/>
                </a:ln>
                <a:solidFill>
                  <a:srgbClr val="0D1A63"/>
                </a:solidFill>
                <a:effectLst/>
                <a:uLnTx/>
                <a:uFillTx/>
                <a:latin typeface="Roboto" panose="02000000000000000000" pitchFamily="2" charset="0"/>
                <a:ea typeface="Roboto" panose="02000000000000000000" pitchFamily="2" charset="0"/>
              </a:rPr>
              <a:t>STATIC
(Discrete or Continuous)</a:t>
            </a:r>
          </a:p>
        </p:txBody>
      </p:sp>
      <p:sp>
        <p:nvSpPr>
          <p:cNvPr id="30" name="TextBox 28">
            <a:extLst>
              <a:ext uri="{FF2B5EF4-FFF2-40B4-BE49-F238E27FC236}">
                <a16:creationId xmlns:a16="http://schemas.microsoft.com/office/drawing/2014/main" id="{B1A5EEFB-147B-403D-6BEF-88A0C0FEF683}"/>
              </a:ext>
            </a:extLst>
          </p:cNvPr>
          <p:cNvSpPr txBox="1"/>
          <p:nvPr/>
        </p:nvSpPr>
        <p:spPr>
          <a:xfrm>
            <a:off x="7901012" y="4422775"/>
            <a:ext cx="854053" cy="159148"/>
          </a:xfrm>
          <a:prstGeom prst="rect">
            <a:avLst/>
          </a:prstGeom>
          <a:noFill/>
          <a:ln>
            <a:noFill/>
          </a:ln>
        </p:spPr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0" lang="en-US" sz="900" b="1" i="0" u="none" strike="noStrike" kern="0" cap="none" spc="0" normalizeH="0" baseline="0" noProof="0">
                <a:ln>
                  <a:noFill/>
                </a:ln>
                <a:solidFill>
                  <a:srgbClr val="0D1A63"/>
                </a:solidFill>
                <a:effectLst/>
                <a:uLnTx/>
                <a:uFillTx/>
                <a:latin typeface="Roboto" panose="02000000000000000000" pitchFamily="2" charset="0"/>
                <a:ea typeface="Roboto" panose="02000000000000000000" pitchFamily="2" charset="0"/>
              </a:rPr>
              <a:t>OVER TIME</a:t>
            </a:r>
          </a:p>
        </p:txBody>
      </p:sp>
      <p:sp>
        <p:nvSpPr>
          <p:cNvPr id="31" name="TextBox 29">
            <a:extLst>
              <a:ext uri="{FF2B5EF4-FFF2-40B4-BE49-F238E27FC236}">
                <a16:creationId xmlns:a16="http://schemas.microsoft.com/office/drawing/2014/main" id="{A8CB6508-F7A9-0AF7-1D60-796E4C757AF5}"/>
              </a:ext>
            </a:extLst>
          </p:cNvPr>
          <p:cNvSpPr txBox="1"/>
          <p:nvPr/>
        </p:nvSpPr>
        <p:spPr>
          <a:xfrm>
            <a:off x="2515987" y="5238750"/>
            <a:ext cx="1111648" cy="266700"/>
          </a:xfrm>
          <a:prstGeom prst="rect">
            <a:avLst/>
          </a:prstGeom>
          <a:noFill/>
          <a:ln>
            <a:noFill/>
          </a:ln>
        </p:spPr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0" lang="en-US" sz="900" b="1" i="0" u="none" strike="noStrike" kern="0" cap="none" spc="0" normalizeH="0" baseline="0" noProof="0">
                <a:ln>
                  <a:noFill/>
                </a:ln>
                <a:solidFill>
                  <a:srgbClr val="0D1A63"/>
                </a:solidFill>
                <a:effectLst/>
                <a:uLnTx/>
                <a:uFillTx/>
                <a:latin typeface="Roboto" panose="02000000000000000000" pitchFamily="2" charset="0"/>
                <a:ea typeface="Roboto" panose="02000000000000000000" pitchFamily="2" charset="0"/>
              </a:rPr>
              <a:t>SIMPLE</a:t>
            </a:r>
          </a:p>
        </p:txBody>
      </p:sp>
      <p:sp>
        <p:nvSpPr>
          <p:cNvPr id="32" name="TextBox 30">
            <a:extLst>
              <a:ext uri="{FF2B5EF4-FFF2-40B4-BE49-F238E27FC236}">
                <a16:creationId xmlns:a16="http://schemas.microsoft.com/office/drawing/2014/main" id="{053A8E34-122B-9B95-DB38-5FFE6CDD6B8A}"/>
              </a:ext>
            </a:extLst>
          </p:cNvPr>
          <p:cNvSpPr txBox="1"/>
          <p:nvPr/>
        </p:nvSpPr>
        <p:spPr>
          <a:xfrm>
            <a:off x="3563936" y="5238750"/>
            <a:ext cx="1485900" cy="266700"/>
          </a:xfrm>
          <a:prstGeom prst="rect">
            <a:avLst/>
          </a:prstGeom>
          <a:noFill/>
          <a:ln>
            <a:noFill/>
          </a:ln>
        </p:spPr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0" lang="en-US" sz="900" b="1" i="0" u="none" strike="noStrike" kern="0" cap="none" spc="0" normalizeH="0" baseline="0" noProof="0">
                <a:ln>
                  <a:noFill/>
                </a:ln>
                <a:solidFill>
                  <a:srgbClr val="0D1A63"/>
                </a:solidFill>
                <a:effectLst/>
                <a:uLnTx/>
                <a:uFillTx/>
                <a:latin typeface="Roboto" panose="02000000000000000000" pitchFamily="2" charset="0"/>
                <a:ea typeface="Roboto" panose="02000000000000000000" pitchFamily="2" charset="0"/>
              </a:rPr>
              <a:t>COMPARE SEVERAL</a:t>
            </a:r>
          </a:p>
        </p:txBody>
      </p:sp>
      <p:sp>
        <p:nvSpPr>
          <p:cNvPr id="33" name="TextBox 31">
            <a:extLst>
              <a:ext uri="{FF2B5EF4-FFF2-40B4-BE49-F238E27FC236}">
                <a16:creationId xmlns:a16="http://schemas.microsoft.com/office/drawing/2014/main" id="{AEA944F5-F515-46F7-F4F3-C824F5604D30}"/>
              </a:ext>
            </a:extLst>
          </p:cNvPr>
          <p:cNvSpPr txBox="1"/>
          <p:nvPr/>
        </p:nvSpPr>
        <p:spPr>
          <a:xfrm>
            <a:off x="6111880" y="4817271"/>
            <a:ext cx="1968500" cy="242886"/>
          </a:xfrm>
          <a:prstGeom prst="rect">
            <a:avLst/>
          </a:prstGeom>
          <a:noFill/>
          <a:ln>
            <a:noFill/>
          </a:ln>
        </p:spPr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0" lang="en-US" sz="900" b="1" i="0" u="none" strike="noStrike" kern="0" cap="none" spc="0" normalizeH="0" baseline="0" noProof="0">
                <a:ln>
                  <a:noFill/>
                </a:ln>
                <a:solidFill>
                  <a:srgbClr val="0D1A63"/>
                </a:solidFill>
                <a:effectLst/>
                <a:uLnTx/>
                <a:uFillTx/>
                <a:latin typeface="Roboto" panose="02000000000000000000" pitchFamily="2" charset="0"/>
                <a:ea typeface="Roboto" panose="02000000000000000000" pitchFamily="2" charset="0"/>
              </a:rPr>
              <a:t>ABSOLUTE DIFFERENCE</a:t>
            </a:r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1E200447-87D4-9751-A888-D72439B24B6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40400" y="41275"/>
            <a:ext cx="711200" cy="711200"/>
          </a:xfrm>
          <a:prstGeom prst="rect">
            <a:avLst/>
          </a:prstGeom>
          <a:noFill/>
        </p:spPr>
      </p:pic>
      <p:sp>
        <p:nvSpPr>
          <p:cNvPr id="43" name="TextBox 31">
            <a:extLst>
              <a:ext uri="{FF2B5EF4-FFF2-40B4-BE49-F238E27FC236}">
                <a16:creationId xmlns:a16="http://schemas.microsoft.com/office/drawing/2014/main" id="{1C3F4E25-C7FB-AB0B-294D-73CCFF5152B2}"/>
              </a:ext>
            </a:extLst>
          </p:cNvPr>
          <p:cNvSpPr txBox="1"/>
          <p:nvPr/>
        </p:nvSpPr>
        <p:spPr>
          <a:xfrm>
            <a:off x="8501063" y="4817271"/>
            <a:ext cx="1968500" cy="242886"/>
          </a:xfrm>
          <a:prstGeom prst="rect">
            <a:avLst/>
          </a:prstGeom>
          <a:noFill/>
          <a:ln>
            <a:noFill/>
          </a:ln>
        </p:spPr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900" b="1" kern="0">
                <a:solidFill>
                  <a:srgbClr val="0D1A6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RELATIVE DIFFERENCE</a:t>
            </a:r>
          </a:p>
        </p:txBody>
      </p:sp>
      <p:sp>
        <p:nvSpPr>
          <p:cNvPr id="44" name="TextBox 23">
            <a:extLst>
              <a:ext uri="{FF2B5EF4-FFF2-40B4-BE49-F238E27FC236}">
                <a16:creationId xmlns:a16="http://schemas.microsoft.com/office/drawing/2014/main" id="{04B28852-CB53-6DC4-C528-D369CBD09809}"/>
              </a:ext>
            </a:extLst>
          </p:cNvPr>
          <p:cNvSpPr txBox="1"/>
          <p:nvPr/>
        </p:nvSpPr>
        <p:spPr>
          <a:xfrm>
            <a:off x="7142166" y="5311766"/>
            <a:ext cx="938214" cy="241303"/>
          </a:xfrm>
          <a:prstGeom prst="rect">
            <a:avLst/>
          </a:prstGeom>
          <a:noFill/>
          <a:ln>
            <a:noFill/>
          </a:ln>
        </p:spPr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900" b="1" kern="0">
                <a:solidFill>
                  <a:srgbClr val="0D1A6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Continuous</a:t>
            </a:r>
            <a:endParaRPr kumimoji="0" lang="en-US" sz="900" b="1" i="0" u="none" strike="noStrike" kern="0" cap="none" spc="0" normalizeH="0" baseline="0" noProof="0">
              <a:ln>
                <a:noFill/>
              </a:ln>
              <a:solidFill>
                <a:srgbClr val="0D1A63"/>
              </a:solidFill>
              <a:effectLst/>
              <a:uLnTx/>
              <a:uFillTx/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45" name="TextBox 23">
            <a:extLst>
              <a:ext uri="{FF2B5EF4-FFF2-40B4-BE49-F238E27FC236}">
                <a16:creationId xmlns:a16="http://schemas.microsoft.com/office/drawing/2014/main" id="{1E289F21-908F-6A1D-B7BC-F5439578D902}"/>
              </a:ext>
            </a:extLst>
          </p:cNvPr>
          <p:cNvSpPr txBox="1"/>
          <p:nvPr/>
        </p:nvSpPr>
        <p:spPr>
          <a:xfrm>
            <a:off x="8501063" y="5311766"/>
            <a:ext cx="758828" cy="241303"/>
          </a:xfrm>
          <a:prstGeom prst="rect">
            <a:avLst/>
          </a:prstGeom>
          <a:noFill/>
          <a:ln>
            <a:noFill/>
          </a:ln>
        </p:spPr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0" lang="en-US" sz="900" b="1" i="0" u="none" strike="noStrike" kern="0" cap="none" spc="0" normalizeH="0" baseline="0" noProof="0">
                <a:ln>
                  <a:noFill/>
                </a:ln>
                <a:solidFill>
                  <a:srgbClr val="0D1A63"/>
                </a:solidFill>
                <a:effectLst/>
                <a:uLnTx/>
                <a:uFillTx/>
                <a:latin typeface="Roboto" panose="02000000000000000000" pitchFamily="2" charset="0"/>
                <a:ea typeface="Roboto" panose="02000000000000000000" pitchFamily="2" charset="0"/>
              </a:rPr>
              <a:t>Discrete</a:t>
            </a:r>
          </a:p>
        </p:txBody>
      </p:sp>
      <p:sp>
        <p:nvSpPr>
          <p:cNvPr id="46" name="TextBox 23">
            <a:extLst>
              <a:ext uri="{FF2B5EF4-FFF2-40B4-BE49-F238E27FC236}">
                <a16:creationId xmlns:a16="http://schemas.microsoft.com/office/drawing/2014/main" id="{17B721CC-E8F2-0E5C-1D4F-D5FB4862B6BD}"/>
              </a:ext>
            </a:extLst>
          </p:cNvPr>
          <p:cNvSpPr txBox="1"/>
          <p:nvPr/>
        </p:nvSpPr>
        <p:spPr>
          <a:xfrm>
            <a:off x="9531349" y="5311766"/>
            <a:ext cx="938214" cy="241303"/>
          </a:xfrm>
          <a:prstGeom prst="rect">
            <a:avLst/>
          </a:prstGeom>
          <a:noFill/>
          <a:ln>
            <a:noFill/>
          </a:ln>
        </p:spPr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900" b="1" kern="0">
                <a:solidFill>
                  <a:srgbClr val="0D1A6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Continuous</a:t>
            </a:r>
            <a:endParaRPr kumimoji="0" lang="en-US" sz="900" b="1" i="0" u="none" strike="noStrike" kern="0" cap="none" spc="0" normalizeH="0" baseline="0" noProof="0">
              <a:ln>
                <a:noFill/>
              </a:ln>
              <a:solidFill>
                <a:srgbClr val="0D1A63"/>
              </a:solidFill>
              <a:effectLst/>
              <a:uLnTx/>
              <a:uFillTx/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47" name="TextBox 23">
            <a:extLst>
              <a:ext uri="{FF2B5EF4-FFF2-40B4-BE49-F238E27FC236}">
                <a16:creationId xmlns:a16="http://schemas.microsoft.com/office/drawing/2014/main" id="{752FA5C7-295D-CB44-E9AC-1EC823617465}"/>
              </a:ext>
            </a:extLst>
          </p:cNvPr>
          <p:cNvSpPr txBox="1"/>
          <p:nvPr/>
        </p:nvSpPr>
        <p:spPr>
          <a:xfrm>
            <a:off x="8870952" y="3521075"/>
            <a:ext cx="614361" cy="241303"/>
          </a:xfrm>
          <a:prstGeom prst="rect">
            <a:avLst/>
          </a:prstGeom>
          <a:noFill/>
          <a:ln>
            <a:noFill/>
          </a:ln>
        </p:spPr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r>
              <a:rPr kumimoji="0" lang="en-US" sz="900" b="1" i="0" u="none" strike="noStrike" kern="0" cap="none" spc="0" normalizeH="0" baseline="0" noProof="0">
                <a:ln>
                  <a:noFill/>
                </a:ln>
                <a:solidFill>
                  <a:srgbClr val="F68048"/>
                </a:solidFill>
                <a:effectLst/>
                <a:uLnTx/>
                <a:uFillTx/>
                <a:latin typeface="Roboto" panose="02000000000000000000" pitchFamily="2" charset="0"/>
                <a:ea typeface="Roboto" panose="02000000000000000000" pitchFamily="2" charset="0"/>
              </a:rPr>
              <a:t>Discrete</a:t>
            </a:r>
          </a:p>
        </p:txBody>
      </p:sp>
      <p:sp>
        <p:nvSpPr>
          <p:cNvPr id="48" name="TextBox 23">
            <a:extLst>
              <a:ext uri="{FF2B5EF4-FFF2-40B4-BE49-F238E27FC236}">
                <a16:creationId xmlns:a16="http://schemas.microsoft.com/office/drawing/2014/main" id="{84AB25E0-0B5C-A7CA-8236-A0FB10300A50}"/>
              </a:ext>
            </a:extLst>
          </p:cNvPr>
          <p:cNvSpPr txBox="1"/>
          <p:nvPr/>
        </p:nvSpPr>
        <p:spPr>
          <a:xfrm>
            <a:off x="8876483" y="2895110"/>
            <a:ext cx="781075" cy="241303"/>
          </a:xfrm>
          <a:prstGeom prst="rect">
            <a:avLst/>
          </a:prstGeom>
          <a:noFill/>
          <a:ln>
            <a:noFill/>
          </a:ln>
        </p:spPr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r>
              <a:rPr lang="en-US" sz="900" b="1" kern="0">
                <a:solidFill>
                  <a:srgbClr val="F68048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Continuous</a:t>
            </a:r>
            <a:endParaRPr kumimoji="0" lang="en-US" sz="900" b="1" i="0" u="none" strike="noStrike" kern="0" cap="none" spc="0" normalizeH="0" baseline="0" noProof="0">
              <a:ln>
                <a:noFill/>
              </a:ln>
              <a:solidFill>
                <a:srgbClr val="F68048"/>
              </a:solidFill>
              <a:effectLst/>
              <a:uLnTx/>
              <a:uFillTx/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49" name="TextBox 21">
            <a:extLst>
              <a:ext uri="{FF2B5EF4-FFF2-40B4-BE49-F238E27FC236}">
                <a16:creationId xmlns:a16="http://schemas.microsoft.com/office/drawing/2014/main" id="{1828270E-D9A0-9FB2-E257-5FA91E5F0121}"/>
              </a:ext>
            </a:extLst>
          </p:cNvPr>
          <p:cNvSpPr txBox="1"/>
          <p:nvPr/>
        </p:nvSpPr>
        <p:spPr>
          <a:xfrm>
            <a:off x="7154856" y="1920477"/>
            <a:ext cx="1203324" cy="254000"/>
          </a:xfrm>
          <a:prstGeom prst="rect">
            <a:avLst/>
          </a:prstGeom>
          <a:noFill/>
          <a:ln>
            <a:noFill/>
          </a:ln>
        </p:spPr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0" lang="en-US" sz="900" b="1" i="0" u="none" strike="noStrike" kern="0" cap="none" spc="0" normalizeH="0" baseline="0" noProof="0">
                <a:ln>
                  <a:noFill/>
                </a:ln>
                <a:solidFill>
                  <a:srgbClr val="0D1A63"/>
                </a:solidFill>
                <a:effectLst/>
                <a:uLnTx/>
                <a:uFillTx/>
                <a:latin typeface="Roboto" panose="02000000000000000000" pitchFamily="2" charset="0"/>
                <a:ea typeface="Roboto" panose="02000000000000000000" pitchFamily="2" charset="0"/>
              </a:rPr>
              <a:t>OVER TIME</a:t>
            </a:r>
          </a:p>
        </p:txBody>
      </p:sp>
      <p:sp>
        <p:nvSpPr>
          <p:cNvPr id="50" name="TextBox 23">
            <a:extLst>
              <a:ext uri="{FF2B5EF4-FFF2-40B4-BE49-F238E27FC236}">
                <a16:creationId xmlns:a16="http://schemas.microsoft.com/office/drawing/2014/main" id="{221FC7C6-BCE8-B3A4-FDFA-9083ACFC9085}"/>
              </a:ext>
            </a:extLst>
          </p:cNvPr>
          <p:cNvSpPr txBox="1"/>
          <p:nvPr/>
        </p:nvSpPr>
        <p:spPr>
          <a:xfrm>
            <a:off x="3094835" y="1419219"/>
            <a:ext cx="758828" cy="241303"/>
          </a:xfrm>
          <a:prstGeom prst="rect">
            <a:avLst/>
          </a:prstGeom>
          <a:noFill/>
          <a:ln>
            <a:noFill/>
          </a:ln>
        </p:spPr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0" lang="en-US" sz="900" b="1" i="0" u="none" strike="noStrike" kern="0" cap="none" spc="0" normalizeH="0" baseline="0" noProof="0">
                <a:ln>
                  <a:noFill/>
                </a:ln>
                <a:solidFill>
                  <a:srgbClr val="0D1A63"/>
                </a:solidFill>
                <a:effectLst/>
                <a:uLnTx/>
                <a:uFillTx/>
                <a:latin typeface="Roboto" panose="02000000000000000000" pitchFamily="2" charset="0"/>
                <a:ea typeface="Roboto" panose="02000000000000000000" pitchFamily="2" charset="0"/>
              </a:rPr>
              <a:t>Discrete</a:t>
            </a:r>
          </a:p>
        </p:txBody>
      </p:sp>
      <p:sp>
        <p:nvSpPr>
          <p:cNvPr id="51" name="TextBox 23">
            <a:extLst>
              <a:ext uri="{FF2B5EF4-FFF2-40B4-BE49-F238E27FC236}">
                <a16:creationId xmlns:a16="http://schemas.microsoft.com/office/drawing/2014/main" id="{96713F2E-B2EE-418E-0CD3-4B01B4414BB3}"/>
              </a:ext>
            </a:extLst>
          </p:cNvPr>
          <p:cNvSpPr txBox="1"/>
          <p:nvPr/>
        </p:nvSpPr>
        <p:spPr>
          <a:xfrm>
            <a:off x="4125121" y="1419216"/>
            <a:ext cx="938214" cy="241303"/>
          </a:xfrm>
          <a:prstGeom prst="rect">
            <a:avLst/>
          </a:prstGeom>
          <a:noFill/>
          <a:ln>
            <a:noFill/>
          </a:ln>
        </p:spPr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900" b="1" kern="0">
                <a:solidFill>
                  <a:srgbClr val="0D1A6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Continuous</a:t>
            </a:r>
            <a:endParaRPr kumimoji="0" lang="en-US" sz="900" b="1" i="0" u="none" strike="noStrike" kern="0" cap="none" spc="0" normalizeH="0" baseline="0" noProof="0">
              <a:ln>
                <a:noFill/>
              </a:ln>
              <a:solidFill>
                <a:srgbClr val="0D1A63"/>
              </a:solidFill>
              <a:effectLst/>
              <a:uLnTx/>
              <a:uFillTx/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52" name="TextBox 23">
            <a:extLst>
              <a:ext uri="{FF2B5EF4-FFF2-40B4-BE49-F238E27FC236}">
                <a16:creationId xmlns:a16="http://schemas.microsoft.com/office/drawing/2014/main" id="{53B775BE-5645-0D9C-1A94-E56EB8254F51}"/>
              </a:ext>
            </a:extLst>
          </p:cNvPr>
          <p:cNvSpPr txBox="1"/>
          <p:nvPr/>
        </p:nvSpPr>
        <p:spPr>
          <a:xfrm>
            <a:off x="6902452" y="1419216"/>
            <a:ext cx="758828" cy="241303"/>
          </a:xfrm>
          <a:prstGeom prst="rect">
            <a:avLst/>
          </a:prstGeom>
          <a:noFill/>
          <a:ln>
            <a:noFill/>
          </a:ln>
        </p:spPr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0" lang="en-US" sz="900" b="1" i="0" u="none" strike="noStrike" kern="0" cap="none" spc="0" normalizeH="0" baseline="0" noProof="0">
                <a:ln>
                  <a:noFill/>
                </a:ln>
                <a:solidFill>
                  <a:srgbClr val="0D1A63"/>
                </a:solidFill>
                <a:effectLst/>
                <a:uLnTx/>
                <a:uFillTx/>
                <a:latin typeface="Roboto" panose="02000000000000000000" pitchFamily="2" charset="0"/>
                <a:ea typeface="Roboto" panose="02000000000000000000" pitchFamily="2" charset="0"/>
              </a:rPr>
              <a:t>Discrete</a:t>
            </a:r>
          </a:p>
        </p:txBody>
      </p:sp>
      <p:sp>
        <p:nvSpPr>
          <p:cNvPr id="53" name="TextBox 23">
            <a:extLst>
              <a:ext uri="{FF2B5EF4-FFF2-40B4-BE49-F238E27FC236}">
                <a16:creationId xmlns:a16="http://schemas.microsoft.com/office/drawing/2014/main" id="{E73FCEB1-088B-40EA-B98F-3F19A1D7369C}"/>
              </a:ext>
            </a:extLst>
          </p:cNvPr>
          <p:cNvSpPr txBox="1"/>
          <p:nvPr/>
        </p:nvSpPr>
        <p:spPr>
          <a:xfrm>
            <a:off x="7923213" y="1419216"/>
            <a:ext cx="957264" cy="241303"/>
          </a:xfrm>
          <a:prstGeom prst="rect">
            <a:avLst/>
          </a:prstGeom>
          <a:noFill/>
          <a:ln>
            <a:noFill/>
          </a:ln>
        </p:spPr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900" b="1" kern="0">
                <a:solidFill>
                  <a:srgbClr val="0D1A6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Continuous</a:t>
            </a:r>
            <a:endParaRPr kumimoji="0" lang="en-US" sz="900" b="1" i="0" u="none" strike="noStrike" kern="0" cap="none" spc="0" normalizeH="0" baseline="0" noProof="0">
              <a:ln>
                <a:noFill/>
              </a:ln>
              <a:solidFill>
                <a:srgbClr val="0D1A63"/>
              </a:solidFill>
              <a:effectLst/>
              <a:uLnTx/>
              <a:uFillTx/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pic>
        <p:nvPicPr>
          <p:cNvPr id="55" name="Picture 54">
            <a:extLst>
              <a:ext uri="{FF2B5EF4-FFF2-40B4-BE49-F238E27FC236}">
                <a16:creationId xmlns:a16="http://schemas.microsoft.com/office/drawing/2014/main" id="{77506CA5-D6D2-A02C-E3B9-174CE861E4A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74095" y="6117118"/>
            <a:ext cx="685796" cy="685796"/>
          </a:xfrm>
          <a:prstGeom prst="rect">
            <a:avLst/>
          </a:prstGeom>
          <a:noFill/>
        </p:spPr>
      </p:pic>
      <p:pic>
        <p:nvPicPr>
          <p:cNvPr id="57" name="Picture 56">
            <a:extLst>
              <a:ext uri="{FF2B5EF4-FFF2-40B4-BE49-F238E27FC236}">
                <a16:creationId xmlns:a16="http://schemas.microsoft.com/office/drawing/2014/main" id="{E7DEB3B3-5BF2-390E-1BCC-0A6E465B49D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57558" y="6096639"/>
            <a:ext cx="685796" cy="685796"/>
          </a:xfrm>
          <a:prstGeom prst="rect">
            <a:avLst/>
          </a:prstGeom>
          <a:noFill/>
        </p:spPr>
      </p:pic>
      <p:pic>
        <p:nvPicPr>
          <p:cNvPr id="59" name="Picture 58">
            <a:extLst>
              <a:ext uri="{FF2B5EF4-FFF2-40B4-BE49-F238E27FC236}">
                <a16:creationId xmlns:a16="http://schemas.microsoft.com/office/drawing/2014/main" id="{A197AAEB-2217-1275-D92B-FC3E35829CE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74446" y="6073462"/>
            <a:ext cx="735007" cy="735007"/>
          </a:xfrm>
          <a:prstGeom prst="rect">
            <a:avLst/>
          </a:prstGeom>
          <a:noFill/>
        </p:spPr>
      </p:pic>
      <p:pic>
        <p:nvPicPr>
          <p:cNvPr id="61" name="Picture 60">
            <a:extLst>
              <a:ext uri="{FF2B5EF4-FFF2-40B4-BE49-F238E27FC236}">
                <a16:creationId xmlns:a16="http://schemas.microsoft.com/office/drawing/2014/main" id="{8B9572BE-C2C6-521F-A5C3-CF4645DB17C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43769" y="6071396"/>
            <a:ext cx="735007" cy="735007"/>
          </a:xfrm>
          <a:prstGeom prst="rect">
            <a:avLst/>
          </a:prstGeom>
          <a:noFill/>
        </p:spPr>
      </p:pic>
      <p:pic>
        <p:nvPicPr>
          <p:cNvPr id="63" name="Picture 62">
            <a:extLst>
              <a:ext uri="{FF2B5EF4-FFF2-40B4-BE49-F238E27FC236}">
                <a16:creationId xmlns:a16="http://schemas.microsoft.com/office/drawing/2014/main" id="{4AEC17F6-9A97-11A4-3B3C-4B8336466CE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54370" y="6111879"/>
            <a:ext cx="685796" cy="685796"/>
          </a:xfrm>
          <a:prstGeom prst="rect">
            <a:avLst/>
          </a:prstGeom>
          <a:noFill/>
        </p:spPr>
      </p:pic>
      <p:pic>
        <p:nvPicPr>
          <p:cNvPr id="65" name="Picture 64">
            <a:extLst>
              <a:ext uri="{FF2B5EF4-FFF2-40B4-BE49-F238E27FC236}">
                <a16:creationId xmlns:a16="http://schemas.microsoft.com/office/drawing/2014/main" id="{3D14A3E2-D976-520C-8E80-2BD7487DAF9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6027" y="6121716"/>
            <a:ext cx="728664" cy="728664"/>
          </a:xfrm>
          <a:prstGeom prst="rect">
            <a:avLst/>
          </a:prstGeom>
          <a:noFill/>
        </p:spPr>
      </p:pic>
      <p:pic>
        <p:nvPicPr>
          <p:cNvPr id="71" name="Picture 70">
            <a:extLst>
              <a:ext uri="{FF2B5EF4-FFF2-40B4-BE49-F238E27FC236}">
                <a16:creationId xmlns:a16="http://schemas.microsoft.com/office/drawing/2014/main" id="{68662ED5-684C-9EC2-59C4-2E89F941A88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6178" y="782735"/>
            <a:ext cx="710402" cy="710402"/>
          </a:xfrm>
          <a:prstGeom prst="rect">
            <a:avLst/>
          </a:prstGeom>
          <a:noFill/>
        </p:spPr>
      </p:pic>
      <p:sp>
        <p:nvSpPr>
          <p:cNvPr id="72" name="TextBox 19">
            <a:extLst>
              <a:ext uri="{FF2B5EF4-FFF2-40B4-BE49-F238E27FC236}">
                <a16:creationId xmlns:a16="http://schemas.microsoft.com/office/drawing/2014/main" id="{DC506E78-E6F5-C75B-88E1-FF3799C57953}"/>
              </a:ext>
            </a:extLst>
          </p:cNvPr>
          <p:cNvSpPr txBox="1"/>
          <p:nvPr/>
        </p:nvSpPr>
        <p:spPr>
          <a:xfrm>
            <a:off x="9573430" y="5704852"/>
            <a:ext cx="854052" cy="395281"/>
          </a:xfrm>
          <a:prstGeom prst="rect">
            <a:avLst/>
          </a:prstGeom>
          <a:noFill/>
          <a:ln>
            <a:noFill/>
          </a:ln>
        </p:spPr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0" lang="en-US" sz="1100" b="1" i="0" u="none" strike="noStrike" kern="0" cap="none" spc="0" normalizeH="0" baseline="0" noProof="0">
                <a:ln>
                  <a:noFill/>
                </a:ln>
                <a:solidFill>
                  <a:srgbClr val="0D1A63"/>
                </a:solidFill>
                <a:effectLst/>
                <a:uLnTx/>
                <a:uFillTx/>
                <a:latin typeface="Roboto" panose="02000000000000000000" pitchFamily="2" charset="0"/>
                <a:ea typeface="Roboto" panose="02000000000000000000" pitchFamily="2" charset="0"/>
              </a:rPr>
              <a:t>100% ST. </a:t>
            </a:r>
            <a:r>
              <a:rPr lang="en-US" b="1" kern="0">
                <a:solidFill>
                  <a:srgbClr val="0D1A6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AREA</a:t>
            </a:r>
          </a:p>
        </p:txBody>
      </p:sp>
      <p:sp>
        <p:nvSpPr>
          <p:cNvPr id="73" name="TextBox 16">
            <a:extLst>
              <a:ext uri="{FF2B5EF4-FFF2-40B4-BE49-F238E27FC236}">
                <a16:creationId xmlns:a16="http://schemas.microsoft.com/office/drawing/2014/main" id="{F8404467-BFA8-E637-5825-EDA492EB841D}"/>
              </a:ext>
            </a:extLst>
          </p:cNvPr>
          <p:cNvSpPr txBox="1"/>
          <p:nvPr/>
        </p:nvSpPr>
        <p:spPr>
          <a:xfrm>
            <a:off x="7634304" y="770240"/>
            <a:ext cx="1524000" cy="221458"/>
          </a:xfrm>
          <a:prstGeom prst="rect">
            <a:avLst/>
          </a:prstGeom>
          <a:noFill/>
          <a:ln>
            <a:noFill/>
          </a:ln>
        </p:spPr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0" lang="en-US" sz="1100" b="1" i="0" u="none" strike="noStrike" kern="0" cap="none" spc="0" normalizeH="0" baseline="0" noProof="0">
                <a:ln>
                  <a:noFill/>
                </a:ln>
                <a:solidFill>
                  <a:srgbClr val="0D1A63"/>
                </a:solidFill>
                <a:effectLst/>
                <a:uLnTx/>
                <a:uFillTx/>
                <a:latin typeface="Roboto" panose="02000000000000000000" pitchFamily="2" charset="0"/>
                <a:ea typeface="Roboto" panose="02000000000000000000" pitchFamily="2" charset="0"/>
              </a:rPr>
              <a:t>LINE</a:t>
            </a:r>
          </a:p>
        </p:txBody>
      </p:sp>
      <p:sp>
        <p:nvSpPr>
          <p:cNvPr id="74" name="TextBox 16">
            <a:extLst>
              <a:ext uri="{FF2B5EF4-FFF2-40B4-BE49-F238E27FC236}">
                <a16:creationId xmlns:a16="http://schemas.microsoft.com/office/drawing/2014/main" id="{58B9DDC5-545B-9461-3883-6ED598B2BCBE}"/>
              </a:ext>
            </a:extLst>
          </p:cNvPr>
          <p:cNvSpPr txBox="1"/>
          <p:nvPr/>
        </p:nvSpPr>
        <p:spPr>
          <a:xfrm>
            <a:off x="5861044" y="757237"/>
            <a:ext cx="501656" cy="255588"/>
          </a:xfrm>
          <a:prstGeom prst="rect">
            <a:avLst/>
          </a:prstGeom>
          <a:noFill/>
          <a:ln>
            <a:noFill/>
          </a:ln>
        </p:spPr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0" lang="en-US" sz="1100" b="1" i="0" u="none" strike="noStrike" kern="0" cap="none" spc="0" normalizeH="0" baseline="0" noProof="0">
                <a:ln>
                  <a:noFill/>
                </a:ln>
                <a:solidFill>
                  <a:srgbClr val="0D1A63"/>
                </a:solidFill>
                <a:effectLst/>
                <a:uLnTx/>
                <a:uFillTx/>
                <a:latin typeface="Roboto" panose="02000000000000000000" pitchFamily="2" charset="0"/>
                <a:ea typeface="Roboto" panose="02000000000000000000" pitchFamily="2" charset="0"/>
              </a:rPr>
              <a:t>BAR</a:t>
            </a:r>
          </a:p>
        </p:txBody>
      </p:sp>
      <p:sp>
        <p:nvSpPr>
          <p:cNvPr id="75" name="TextBox 16">
            <a:extLst>
              <a:ext uri="{FF2B5EF4-FFF2-40B4-BE49-F238E27FC236}">
                <a16:creationId xmlns:a16="http://schemas.microsoft.com/office/drawing/2014/main" id="{BF105259-75E1-F574-6091-DB72D9ACAD9F}"/>
              </a:ext>
            </a:extLst>
          </p:cNvPr>
          <p:cNvSpPr txBox="1"/>
          <p:nvPr/>
        </p:nvSpPr>
        <p:spPr>
          <a:xfrm>
            <a:off x="2709864" y="776207"/>
            <a:ext cx="1524000" cy="221458"/>
          </a:xfrm>
          <a:prstGeom prst="rect">
            <a:avLst/>
          </a:prstGeom>
          <a:noFill/>
          <a:ln>
            <a:noFill/>
          </a:ln>
        </p:spPr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0" lang="en-US" sz="1100" b="1" i="0" u="none" strike="noStrike" kern="0" cap="none" spc="0" normalizeH="0" baseline="0" noProof="0">
                <a:ln>
                  <a:noFill/>
                </a:ln>
                <a:solidFill>
                  <a:srgbClr val="0D1A63"/>
                </a:solidFill>
                <a:effectLst/>
                <a:uLnTx/>
                <a:uFillTx/>
                <a:latin typeface="Roboto" panose="02000000000000000000" pitchFamily="2" charset="0"/>
                <a:ea typeface="Roboto" panose="02000000000000000000" pitchFamily="2" charset="0"/>
              </a:rPr>
              <a:t>PICTOGRAM</a:t>
            </a:r>
          </a:p>
        </p:txBody>
      </p:sp>
      <p:sp>
        <p:nvSpPr>
          <p:cNvPr id="76" name="TextBox 16">
            <a:extLst>
              <a:ext uri="{FF2B5EF4-FFF2-40B4-BE49-F238E27FC236}">
                <a16:creationId xmlns:a16="http://schemas.microsoft.com/office/drawing/2014/main" id="{E54E3C58-E63A-2C96-D3FD-354F5CD046F0}"/>
              </a:ext>
            </a:extLst>
          </p:cNvPr>
          <p:cNvSpPr txBox="1"/>
          <p:nvPr/>
        </p:nvSpPr>
        <p:spPr>
          <a:xfrm>
            <a:off x="527254" y="1427743"/>
            <a:ext cx="710402" cy="241302"/>
          </a:xfrm>
          <a:prstGeom prst="rect">
            <a:avLst/>
          </a:prstGeom>
          <a:noFill/>
          <a:ln>
            <a:noFill/>
          </a:ln>
        </p:spPr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0" lang="en-US" sz="1100" b="1" i="0" u="none" strike="noStrike" kern="0" cap="none" spc="0" normalizeH="0" baseline="0" noProof="0">
                <a:ln>
                  <a:noFill/>
                </a:ln>
                <a:solidFill>
                  <a:srgbClr val="F68048"/>
                </a:solidFill>
                <a:effectLst/>
                <a:uLnTx/>
                <a:uFillTx/>
                <a:latin typeface="Roboto" panose="02000000000000000000" pitchFamily="2" charset="0"/>
                <a:ea typeface="Roboto" panose="02000000000000000000" pitchFamily="2" charset="0"/>
              </a:rPr>
              <a:t>RADAR</a:t>
            </a:r>
          </a:p>
        </p:txBody>
      </p:sp>
      <p:sp>
        <p:nvSpPr>
          <p:cNvPr id="77" name="TextBox 16">
            <a:extLst>
              <a:ext uri="{FF2B5EF4-FFF2-40B4-BE49-F238E27FC236}">
                <a16:creationId xmlns:a16="http://schemas.microsoft.com/office/drawing/2014/main" id="{09B59A49-143D-AB61-3B4D-D134797CE77F}"/>
              </a:ext>
            </a:extLst>
          </p:cNvPr>
          <p:cNvSpPr txBox="1"/>
          <p:nvPr/>
        </p:nvSpPr>
        <p:spPr>
          <a:xfrm>
            <a:off x="455611" y="2158097"/>
            <a:ext cx="860416" cy="221458"/>
          </a:xfrm>
          <a:prstGeom prst="rect">
            <a:avLst/>
          </a:prstGeom>
          <a:noFill/>
          <a:ln>
            <a:noFill/>
          </a:ln>
        </p:spPr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0" lang="en-US" sz="1100" b="1" i="0" u="none" strike="noStrike" kern="0" cap="none" spc="0" normalizeH="0" baseline="0" noProof="0">
                <a:ln>
                  <a:noFill/>
                </a:ln>
                <a:solidFill>
                  <a:srgbClr val="F68048"/>
                </a:solidFill>
                <a:effectLst/>
                <a:uLnTx/>
                <a:uFillTx/>
                <a:latin typeface="Roboto" panose="02000000000000000000" pitchFamily="2" charset="0"/>
                <a:ea typeface="Roboto" panose="02000000000000000000" pitchFamily="2" charset="0"/>
              </a:rPr>
              <a:t>SCATTER</a:t>
            </a:r>
          </a:p>
        </p:txBody>
      </p:sp>
      <p:sp>
        <p:nvSpPr>
          <p:cNvPr id="78" name="TextBox 16">
            <a:extLst>
              <a:ext uri="{FF2B5EF4-FFF2-40B4-BE49-F238E27FC236}">
                <a16:creationId xmlns:a16="http://schemas.microsoft.com/office/drawing/2014/main" id="{BB493DEE-FFEC-FD05-7AFB-819BA179C2AD}"/>
              </a:ext>
            </a:extLst>
          </p:cNvPr>
          <p:cNvSpPr txBox="1"/>
          <p:nvPr/>
        </p:nvSpPr>
        <p:spPr>
          <a:xfrm>
            <a:off x="703456" y="3711579"/>
            <a:ext cx="918769" cy="244079"/>
          </a:xfrm>
          <a:prstGeom prst="rect">
            <a:avLst/>
          </a:prstGeom>
          <a:noFill/>
          <a:ln>
            <a:noFill/>
          </a:ln>
        </p:spPr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0" lang="en-US" sz="1100" b="1" i="0" u="none" strike="noStrike" kern="0" cap="none" spc="0" normalizeH="0" baseline="0" noProof="0">
                <a:ln>
                  <a:noFill/>
                </a:ln>
                <a:solidFill>
                  <a:srgbClr val="F68048"/>
                </a:solidFill>
                <a:effectLst/>
                <a:uLnTx/>
                <a:uFillTx/>
                <a:latin typeface="Roboto" panose="02000000000000000000" pitchFamily="2" charset="0"/>
                <a:ea typeface="Roboto" panose="02000000000000000000" pitchFamily="2" charset="0"/>
              </a:rPr>
              <a:t>BUBBLE</a:t>
            </a:r>
          </a:p>
        </p:txBody>
      </p:sp>
      <p:cxnSp>
        <p:nvCxnSpPr>
          <p:cNvPr id="80" name="Connector: Elbow 79">
            <a:extLst>
              <a:ext uri="{FF2B5EF4-FFF2-40B4-BE49-F238E27FC236}">
                <a16:creationId xmlns:a16="http://schemas.microsoft.com/office/drawing/2014/main" id="{BA5DB689-2219-0579-7610-0B32B0D9FB59}"/>
              </a:ext>
            </a:extLst>
          </p:cNvPr>
          <p:cNvCxnSpPr>
            <a:cxnSpLocks/>
            <a:stCxn id="8" idx="2"/>
            <a:endCxn id="30" idx="1"/>
          </p:cNvCxnSpPr>
          <p:nvPr/>
        </p:nvCxnSpPr>
        <p:spPr>
          <a:xfrm rot="16200000" flipH="1">
            <a:off x="6908712" y="3510049"/>
            <a:ext cx="219274" cy="1765325"/>
          </a:xfrm>
          <a:prstGeom prst="bentConnector2">
            <a:avLst/>
          </a:prstGeom>
          <a:ln>
            <a:solidFill>
              <a:srgbClr val="0D1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7DCB8BDF-0C45-00BC-83BC-3AD24FC60B87}"/>
              </a:ext>
            </a:extLst>
          </p:cNvPr>
          <p:cNvCxnSpPr>
            <a:stCxn id="8" idx="2"/>
            <a:endCxn id="29" idx="3"/>
          </p:cNvCxnSpPr>
          <p:nvPr/>
        </p:nvCxnSpPr>
        <p:spPr>
          <a:xfrm rot="5400000">
            <a:off x="5253833" y="3623471"/>
            <a:ext cx="222250" cy="1541459"/>
          </a:xfrm>
          <a:prstGeom prst="bentConnector2">
            <a:avLst/>
          </a:prstGeom>
          <a:ln>
            <a:solidFill>
              <a:srgbClr val="0D1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Connector: Elbow 84">
            <a:extLst>
              <a:ext uri="{FF2B5EF4-FFF2-40B4-BE49-F238E27FC236}">
                <a16:creationId xmlns:a16="http://schemas.microsoft.com/office/drawing/2014/main" id="{F227AE98-4711-29F7-6A1F-E65DC93585C0}"/>
              </a:ext>
            </a:extLst>
          </p:cNvPr>
          <p:cNvCxnSpPr>
            <a:cxnSpLocks/>
            <a:stCxn id="30" idx="2"/>
            <a:endCxn id="33" idx="0"/>
          </p:cNvCxnSpPr>
          <p:nvPr/>
        </p:nvCxnSpPr>
        <p:spPr>
          <a:xfrm rot="5400000">
            <a:off x="7594411" y="4083643"/>
            <a:ext cx="235348" cy="1231909"/>
          </a:xfrm>
          <a:prstGeom prst="bentConnector3">
            <a:avLst>
              <a:gd name="adj1" fmla="val 50000"/>
            </a:avLst>
          </a:prstGeom>
          <a:ln>
            <a:solidFill>
              <a:srgbClr val="0D1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Connector: Elbow 87">
            <a:extLst>
              <a:ext uri="{FF2B5EF4-FFF2-40B4-BE49-F238E27FC236}">
                <a16:creationId xmlns:a16="http://schemas.microsoft.com/office/drawing/2014/main" id="{A67B64AD-E614-248A-6A88-FDD8724A27FD}"/>
              </a:ext>
            </a:extLst>
          </p:cNvPr>
          <p:cNvCxnSpPr>
            <a:cxnSpLocks/>
            <a:stCxn id="30" idx="2"/>
            <a:endCxn id="43" idx="0"/>
          </p:cNvCxnSpPr>
          <p:nvPr/>
        </p:nvCxnSpPr>
        <p:spPr>
          <a:xfrm rot="16200000" flipH="1">
            <a:off x="8789002" y="4120960"/>
            <a:ext cx="235348" cy="1157274"/>
          </a:xfrm>
          <a:prstGeom prst="bentConnector3">
            <a:avLst>
              <a:gd name="adj1" fmla="val 50000"/>
            </a:avLst>
          </a:prstGeom>
          <a:ln>
            <a:solidFill>
              <a:srgbClr val="0D1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Connector: Elbow 90">
            <a:extLst>
              <a:ext uri="{FF2B5EF4-FFF2-40B4-BE49-F238E27FC236}">
                <a16:creationId xmlns:a16="http://schemas.microsoft.com/office/drawing/2014/main" id="{ABD838BE-A847-C806-4A32-8432FD8C3F79}"/>
              </a:ext>
            </a:extLst>
          </p:cNvPr>
          <p:cNvCxnSpPr>
            <a:cxnSpLocks/>
            <a:stCxn id="43" idx="2"/>
            <a:endCxn id="46" idx="0"/>
          </p:cNvCxnSpPr>
          <p:nvPr/>
        </p:nvCxnSpPr>
        <p:spPr>
          <a:xfrm rot="16200000" flipH="1">
            <a:off x="9617080" y="4928389"/>
            <a:ext cx="251609" cy="515143"/>
          </a:xfrm>
          <a:prstGeom prst="bentConnector3">
            <a:avLst>
              <a:gd name="adj1" fmla="val 50000"/>
            </a:avLst>
          </a:prstGeom>
          <a:ln>
            <a:solidFill>
              <a:srgbClr val="0D1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Connector: Elbow 93">
            <a:extLst>
              <a:ext uri="{FF2B5EF4-FFF2-40B4-BE49-F238E27FC236}">
                <a16:creationId xmlns:a16="http://schemas.microsoft.com/office/drawing/2014/main" id="{3DF8D901-7C00-1C73-A2F3-ED43FF540270}"/>
              </a:ext>
            </a:extLst>
          </p:cNvPr>
          <p:cNvCxnSpPr>
            <a:cxnSpLocks/>
            <a:stCxn id="43" idx="2"/>
            <a:endCxn id="45" idx="0"/>
          </p:cNvCxnSpPr>
          <p:nvPr/>
        </p:nvCxnSpPr>
        <p:spPr>
          <a:xfrm rot="5400000">
            <a:off x="9057091" y="4883543"/>
            <a:ext cx="251609" cy="604836"/>
          </a:xfrm>
          <a:prstGeom prst="bentConnector3">
            <a:avLst>
              <a:gd name="adj1" fmla="val 50000"/>
            </a:avLst>
          </a:prstGeom>
          <a:ln>
            <a:solidFill>
              <a:srgbClr val="0D1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Connector: Elbow 96">
            <a:extLst>
              <a:ext uri="{FF2B5EF4-FFF2-40B4-BE49-F238E27FC236}">
                <a16:creationId xmlns:a16="http://schemas.microsoft.com/office/drawing/2014/main" id="{EE3D5E2E-BD6F-9F79-F0C7-6705C591B090}"/>
              </a:ext>
            </a:extLst>
          </p:cNvPr>
          <p:cNvCxnSpPr>
            <a:cxnSpLocks/>
            <a:stCxn id="33" idx="2"/>
            <a:endCxn id="44" idx="0"/>
          </p:cNvCxnSpPr>
          <p:nvPr/>
        </p:nvCxnSpPr>
        <p:spPr>
          <a:xfrm rot="16200000" flipH="1">
            <a:off x="7227897" y="4928389"/>
            <a:ext cx="251609" cy="515143"/>
          </a:xfrm>
          <a:prstGeom prst="bentConnector3">
            <a:avLst>
              <a:gd name="adj1" fmla="val 50000"/>
            </a:avLst>
          </a:prstGeom>
          <a:ln>
            <a:solidFill>
              <a:srgbClr val="0D1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: Elbow 99">
            <a:extLst>
              <a:ext uri="{FF2B5EF4-FFF2-40B4-BE49-F238E27FC236}">
                <a16:creationId xmlns:a16="http://schemas.microsoft.com/office/drawing/2014/main" id="{B53962D3-0D80-AA21-4CC2-8880E2CD04A1}"/>
              </a:ext>
            </a:extLst>
          </p:cNvPr>
          <p:cNvCxnSpPr>
            <a:cxnSpLocks/>
            <a:stCxn id="33" idx="2"/>
            <a:endCxn id="25" idx="0"/>
          </p:cNvCxnSpPr>
          <p:nvPr/>
        </p:nvCxnSpPr>
        <p:spPr>
          <a:xfrm rot="5400000">
            <a:off x="6667906" y="4883545"/>
            <a:ext cx="251612" cy="604836"/>
          </a:xfrm>
          <a:prstGeom prst="bentConnector3">
            <a:avLst>
              <a:gd name="adj1" fmla="val 50000"/>
            </a:avLst>
          </a:prstGeom>
          <a:ln>
            <a:solidFill>
              <a:srgbClr val="0D1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: Elbow 102">
            <a:extLst>
              <a:ext uri="{FF2B5EF4-FFF2-40B4-BE49-F238E27FC236}">
                <a16:creationId xmlns:a16="http://schemas.microsoft.com/office/drawing/2014/main" id="{80E62CDF-6746-92AC-5581-86B7858403E2}"/>
              </a:ext>
            </a:extLst>
          </p:cNvPr>
          <p:cNvCxnSpPr>
            <a:cxnSpLocks/>
            <a:stCxn id="29" idx="2"/>
            <a:endCxn id="32" idx="0"/>
          </p:cNvCxnSpPr>
          <p:nvPr/>
        </p:nvCxnSpPr>
        <p:spPr>
          <a:xfrm rot="16200000" flipH="1">
            <a:off x="3813175" y="4745038"/>
            <a:ext cx="504825" cy="482597"/>
          </a:xfrm>
          <a:prstGeom prst="bentConnector3">
            <a:avLst>
              <a:gd name="adj1" fmla="val 50000"/>
            </a:avLst>
          </a:prstGeom>
          <a:ln>
            <a:solidFill>
              <a:srgbClr val="0D1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: Elbow 105">
            <a:extLst>
              <a:ext uri="{FF2B5EF4-FFF2-40B4-BE49-F238E27FC236}">
                <a16:creationId xmlns:a16="http://schemas.microsoft.com/office/drawing/2014/main" id="{121EF386-C1FE-D347-B528-F102AA15C29D}"/>
              </a:ext>
            </a:extLst>
          </p:cNvPr>
          <p:cNvCxnSpPr>
            <a:cxnSpLocks/>
            <a:stCxn id="29" idx="2"/>
            <a:endCxn id="31" idx="0"/>
          </p:cNvCxnSpPr>
          <p:nvPr/>
        </p:nvCxnSpPr>
        <p:spPr>
          <a:xfrm rot="5400000">
            <a:off x="3195638" y="4610098"/>
            <a:ext cx="504825" cy="752478"/>
          </a:xfrm>
          <a:prstGeom prst="bentConnector3">
            <a:avLst>
              <a:gd name="adj1" fmla="val 50000"/>
            </a:avLst>
          </a:prstGeom>
          <a:ln>
            <a:solidFill>
              <a:srgbClr val="0D1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: Elbow 108">
            <a:extLst>
              <a:ext uri="{FF2B5EF4-FFF2-40B4-BE49-F238E27FC236}">
                <a16:creationId xmlns:a16="http://schemas.microsoft.com/office/drawing/2014/main" id="{C4330C7C-2B4F-A9DC-D05C-930CC56BEF7F}"/>
              </a:ext>
            </a:extLst>
          </p:cNvPr>
          <p:cNvCxnSpPr>
            <a:cxnSpLocks/>
            <a:stCxn id="32" idx="2"/>
            <a:endCxn id="19" idx="1"/>
          </p:cNvCxnSpPr>
          <p:nvPr/>
        </p:nvCxnSpPr>
        <p:spPr>
          <a:xfrm rot="16200000" flipH="1">
            <a:off x="4459730" y="5352605"/>
            <a:ext cx="401955" cy="707643"/>
          </a:xfrm>
          <a:prstGeom prst="bentConnector2">
            <a:avLst/>
          </a:prstGeom>
          <a:ln>
            <a:solidFill>
              <a:srgbClr val="0D1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: Elbow 111">
            <a:extLst>
              <a:ext uri="{FF2B5EF4-FFF2-40B4-BE49-F238E27FC236}">
                <a16:creationId xmlns:a16="http://schemas.microsoft.com/office/drawing/2014/main" id="{953DED0A-16A5-6AB3-2A8A-C11E8C1AB6A3}"/>
              </a:ext>
            </a:extLst>
          </p:cNvPr>
          <p:cNvCxnSpPr>
            <a:cxnSpLocks/>
            <a:stCxn id="25" idx="2"/>
            <a:endCxn id="19" idx="3"/>
          </p:cNvCxnSpPr>
          <p:nvPr/>
        </p:nvCxnSpPr>
        <p:spPr>
          <a:xfrm rot="5400000">
            <a:off x="6013095" y="5429205"/>
            <a:ext cx="354333" cy="602067"/>
          </a:xfrm>
          <a:prstGeom prst="bentConnector2">
            <a:avLst/>
          </a:prstGeom>
          <a:ln>
            <a:solidFill>
              <a:srgbClr val="0D1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: Elbow 114">
            <a:extLst>
              <a:ext uri="{FF2B5EF4-FFF2-40B4-BE49-F238E27FC236}">
                <a16:creationId xmlns:a16="http://schemas.microsoft.com/office/drawing/2014/main" id="{21E6D219-EEF9-D12B-6519-B08C1A26E10A}"/>
              </a:ext>
            </a:extLst>
          </p:cNvPr>
          <p:cNvCxnSpPr>
            <a:cxnSpLocks/>
            <a:stCxn id="6" idx="3"/>
            <a:endCxn id="48" idx="1"/>
          </p:cNvCxnSpPr>
          <p:nvPr/>
        </p:nvCxnSpPr>
        <p:spPr>
          <a:xfrm flipV="1">
            <a:off x="8501063" y="3015762"/>
            <a:ext cx="375420" cy="362438"/>
          </a:xfrm>
          <a:prstGeom prst="bentConnector3">
            <a:avLst>
              <a:gd name="adj1" fmla="val 50000"/>
            </a:avLst>
          </a:prstGeom>
          <a:ln>
            <a:solidFill>
              <a:srgbClr val="F6804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: Elbow 117">
            <a:extLst>
              <a:ext uri="{FF2B5EF4-FFF2-40B4-BE49-F238E27FC236}">
                <a16:creationId xmlns:a16="http://schemas.microsoft.com/office/drawing/2014/main" id="{FCF716E4-3586-C1B8-87AE-E894E475DA24}"/>
              </a:ext>
            </a:extLst>
          </p:cNvPr>
          <p:cNvCxnSpPr>
            <a:cxnSpLocks/>
            <a:stCxn id="6" idx="3"/>
            <a:endCxn id="47" idx="1"/>
          </p:cNvCxnSpPr>
          <p:nvPr/>
        </p:nvCxnSpPr>
        <p:spPr>
          <a:xfrm>
            <a:off x="8501063" y="3378200"/>
            <a:ext cx="369889" cy="263527"/>
          </a:xfrm>
          <a:prstGeom prst="bentConnector3">
            <a:avLst>
              <a:gd name="adj1" fmla="val 50000"/>
            </a:avLst>
          </a:prstGeom>
          <a:ln>
            <a:solidFill>
              <a:srgbClr val="F6804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: Elbow 120">
            <a:extLst>
              <a:ext uri="{FF2B5EF4-FFF2-40B4-BE49-F238E27FC236}">
                <a16:creationId xmlns:a16="http://schemas.microsoft.com/office/drawing/2014/main" id="{DF68EB9C-435F-A0B0-6146-9837F58A4E17}"/>
              </a:ext>
            </a:extLst>
          </p:cNvPr>
          <p:cNvCxnSpPr>
            <a:cxnSpLocks/>
            <a:stCxn id="5" idx="0"/>
            <a:endCxn id="49" idx="2"/>
          </p:cNvCxnSpPr>
          <p:nvPr/>
        </p:nvCxnSpPr>
        <p:spPr>
          <a:xfrm rot="5400000" flipH="1" flipV="1">
            <a:off x="6796678" y="1513485"/>
            <a:ext cx="298848" cy="1620832"/>
          </a:xfrm>
          <a:prstGeom prst="bentConnector3">
            <a:avLst>
              <a:gd name="adj1" fmla="val 50000"/>
            </a:avLst>
          </a:prstGeom>
          <a:ln>
            <a:solidFill>
              <a:srgbClr val="0D1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: Elbow 123">
            <a:extLst>
              <a:ext uri="{FF2B5EF4-FFF2-40B4-BE49-F238E27FC236}">
                <a16:creationId xmlns:a16="http://schemas.microsoft.com/office/drawing/2014/main" id="{6AC3C90E-D8EA-07CF-7502-CF0FAA98645A}"/>
              </a:ext>
            </a:extLst>
          </p:cNvPr>
          <p:cNvCxnSpPr>
            <a:cxnSpLocks/>
            <a:stCxn id="5" idx="0"/>
            <a:endCxn id="23" idx="2"/>
          </p:cNvCxnSpPr>
          <p:nvPr/>
        </p:nvCxnSpPr>
        <p:spPr>
          <a:xfrm rot="16200000" flipV="1">
            <a:off x="4920254" y="1257892"/>
            <a:ext cx="298848" cy="2132017"/>
          </a:xfrm>
          <a:prstGeom prst="bentConnector3">
            <a:avLst>
              <a:gd name="adj1" fmla="val 50000"/>
            </a:avLst>
          </a:prstGeom>
          <a:ln>
            <a:solidFill>
              <a:srgbClr val="0D1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: Elbow 126">
            <a:extLst>
              <a:ext uri="{FF2B5EF4-FFF2-40B4-BE49-F238E27FC236}">
                <a16:creationId xmlns:a16="http://schemas.microsoft.com/office/drawing/2014/main" id="{75813950-58A5-5BCA-B71C-013F5D77B439}"/>
              </a:ext>
            </a:extLst>
          </p:cNvPr>
          <p:cNvCxnSpPr>
            <a:cxnSpLocks/>
            <a:stCxn id="23" idx="0"/>
            <a:endCxn id="51" idx="2"/>
          </p:cNvCxnSpPr>
          <p:nvPr/>
        </p:nvCxnSpPr>
        <p:spPr>
          <a:xfrm rot="5400000" flipH="1" flipV="1">
            <a:off x="4168969" y="1495219"/>
            <a:ext cx="259958" cy="590559"/>
          </a:xfrm>
          <a:prstGeom prst="bentConnector3">
            <a:avLst>
              <a:gd name="adj1" fmla="val 50000"/>
            </a:avLst>
          </a:prstGeom>
          <a:ln>
            <a:solidFill>
              <a:srgbClr val="0D1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: Elbow 129">
            <a:extLst>
              <a:ext uri="{FF2B5EF4-FFF2-40B4-BE49-F238E27FC236}">
                <a16:creationId xmlns:a16="http://schemas.microsoft.com/office/drawing/2014/main" id="{0296B8C3-3182-AF5B-7E05-2E284EAC1568}"/>
              </a:ext>
            </a:extLst>
          </p:cNvPr>
          <p:cNvCxnSpPr>
            <a:cxnSpLocks/>
            <a:stCxn id="23" idx="0"/>
            <a:endCxn id="50" idx="2"/>
          </p:cNvCxnSpPr>
          <p:nvPr/>
        </p:nvCxnSpPr>
        <p:spPr>
          <a:xfrm rot="16200000" flipV="1">
            <a:off x="3608982" y="1525790"/>
            <a:ext cx="259955" cy="529420"/>
          </a:xfrm>
          <a:prstGeom prst="bentConnector3">
            <a:avLst>
              <a:gd name="adj1" fmla="val 50000"/>
            </a:avLst>
          </a:prstGeom>
          <a:ln>
            <a:solidFill>
              <a:srgbClr val="0D1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: Elbow 132">
            <a:extLst>
              <a:ext uri="{FF2B5EF4-FFF2-40B4-BE49-F238E27FC236}">
                <a16:creationId xmlns:a16="http://schemas.microsoft.com/office/drawing/2014/main" id="{99524694-96CB-B246-0C5F-08F913642DD2}"/>
              </a:ext>
            </a:extLst>
          </p:cNvPr>
          <p:cNvCxnSpPr>
            <a:cxnSpLocks/>
            <a:stCxn id="49" idx="0"/>
            <a:endCxn id="52" idx="2"/>
          </p:cNvCxnSpPr>
          <p:nvPr/>
        </p:nvCxnSpPr>
        <p:spPr>
          <a:xfrm rot="16200000" flipV="1">
            <a:off x="7389213" y="1553172"/>
            <a:ext cx="259958" cy="474652"/>
          </a:xfrm>
          <a:prstGeom prst="bentConnector3">
            <a:avLst>
              <a:gd name="adj1" fmla="val 50000"/>
            </a:avLst>
          </a:prstGeom>
          <a:ln>
            <a:solidFill>
              <a:srgbClr val="0D1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: Elbow 136">
            <a:extLst>
              <a:ext uri="{FF2B5EF4-FFF2-40B4-BE49-F238E27FC236}">
                <a16:creationId xmlns:a16="http://schemas.microsoft.com/office/drawing/2014/main" id="{2662E97B-D4B2-9B7B-7003-0E5D6F17F402}"/>
              </a:ext>
            </a:extLst>
          </p:cNvPr>
          <p:cNvCxnSpPr>
            <a:cxnSpLocks/>
            <a:stCxn id="49" idx="0"/>
            <a:endCxn id="53" idx="2"/>
          </p:cNvCxnSpPr>
          <p:nvPr/>
        </p:nvCxnSpPr>
        <p:spPr>
          <a:xfrm rot="5400000" flipH="1" flipV="1">
            <a:off x="7949202" y="1467835"/>
            <a:ext cx="259958" cy="645327"/>
          </a:xfrm>
          <a:prstGeom prst="bentConnector3">
            <a:avLst>
              <a:gd name="adj1" fmla="val 50000"/>
            </a:avLst>
          </a:prstGeom>
          <a:ln>
            <a:solidFill>
              <a:srgbClr val="0D1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: Elbow 139">
            <a:extLst>
              <a:ext uri="{FF2B5EF4-FFF2-40B4-BE49-F238E27FC236}">
                <a16:creationId xmlns:a16="http://schemas.microsoft.com/office/drawing/2014/main" id="{7EFA24A9-716B-0AAC-728D-AACEDD86BCFB}"/>
              </a:ext>
            </a:extLst>
          </p:cNvPr>
          <p:cNvCxnSpPr>
            <a:cxnSpLocks/>
            <a:stCxn id="52" idx="0"/>
            <a:endCxn id="74" idx="2"/>
          </p:cNvCxnSpPr>
          <p:nvPr/>
        </p:nvCxnSpPr>
        <p:spPr>
          <a:xfrm rot="16200000" flipV="1">
            <a:off x="6493674" y="631024"/>
            <a:ext cx="406391" cy="1169994"/>
          </a:xfrm>
          <a:prstGeom prst="bentConnector3">
            <a:avLst>
              <a:gd name="adj1" fmla="val 50000"/>
            </a:avLst>
          </a:prstGeom>
          <a:ln>
            <a:solidFill>
              <a:srgbClr val="0D1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: Elbow 150">
            <a:extLst>
              <a:ext uri="{FF2B5EF4-FFF2-40B4-BE49-F238E27FC236}">
                <a16:creationId xmlns:a16="http://schemas.microsoft.com/office/drawing/2014/main" id="{405C1878-2E3E-BBFC-57F6-8D30C1D679E4}"/>
              </a:ext>
            </a:extLst>
          </p:cNvPr>
          <p:cNvCxnSpPr>
            <a:cxnSpLocks/>
            <a:stCxn id="53" idx="1"/>
          </p:cNvCxnSpPr>
          <p:nvPr/>
        </p:nvCxnSpPr>
        <p:spPr>
          <a:xfrm rot="10800000">
            <a:off x="6323821" y="847336"/>
            <a:ext cx="1599393" cy="692533"/>
          </a:xfrm>
          <a:prstGeom prst="bentConnector3">
            <a:avLst>
              <a:gd name="adj1" fmla="val 13672"/>
            </a:avLst>
          </a:prstGeom>
          <a:ln>
            <a:solidFill>
              <a:srgbClr val="0D1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: Elbow 162">
            <a:extLst>
              <a:ext uri="{FF2B5EF4-FFF2-40B4-BE49-F238E27FC236}">
                <a16:creationId xmlns:a16="http://schemas.microsoft.com/office/drawing/2014/main" id="{F19BF858-9867-360E-62FE-AF55B415A121}"/>
              </a:ext>
            </a:extLst>
          </p:cNvPr>
          <p:cNvCxnSpPr>
            <a:cxnSpLocks/>
            <a:stCxn id="7" idx="1"/>
            <a:endCxn id="27" idx="3"/>
          </p:cNvCxnSpPr>
          <p:nvPr/>
        </p:nvCxnSpPr>
        <p:spPr>
          <a:xfrm rot="10800000">
            <a:off x="3149598" y="2794000"/>
            <a:ext cx="620713" cy="584200"/>
          </a:xfrm>
          <a:prstGeom prst="bentConnector3">
            <a:avLst>
              <a:gd name="adj1" fmla="val 50000"/>
            </a:avLst>
          </a:prstGeom>
          <a:ln>
            <a:solidFill>
              <a:srgbClr val="F6804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: Elbow 165">
            <a:extLst>
              <a:ext uri="{FF2B5EF4-FFF2-40B4-BE49-F238E27FC236}">
                <a16:creationId xmlns:a16="http://schemas.microsoft.com/office/drawing/2014/main" id="{C4A32C32-62B8-94B6-0875-ED08337A0C9B}"/>
              </a:ext>
            </a:extLst>
          </p:cNvPr>
          <p:cNvCxnSpPr>
            <a:cxnSpLocks/>
            <a:stCxn id="7" idx="1"/>
            <a:endCxn id="28" idx="3"/>
          </p:cNvCxnSpPr>
          <p:nvPr/>
        </p:nvCxnSpPr>
        <p:spPr>
          <a:xfrm rot="10800000" flipV="1">
            <a:off x="3149596" y="3378200"/>
            <a:ext cx="620714" cy="457200"/>
          </a:xfrm>
          <a:prstGeom prst="bentConnector3">
            <a:avLst>
              <a:gd name="adj1" fmla="val 50000"/>
            </a:avLst>
          </a:prstGeom>
          <a:ln>
            <a:solidFill>
              <a:srgbClr val="F6804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Straight Arrow Connector 169">
            <a:extLst>
              <a:ext uri="{FF2B5EF4-FFF2-40B4-BE49-F238E27FC236}">
                <a16:creationId xmlns:a16="http://schemas.microsoft.com/office/drawing/2014/main" id="{48F542F5-7A90-1C59-CA6A-37F62724CCF9}"/>
              </a:ext>
            </a:extLst>
          </p:cNvPr>
          <p:cNvCxnSpPr>
            <a:stCxn id="28" idx="1"/>
            <a:endCxn id="78" idx="3"/>
          </p:cNvCxnSpPr>
          <p:nvPr/>
        </p:nvCxnSpPr>
        <p:spPr>
          <a:xfrm flipH="1" flipV="1">
            <a:off x="1622225" y="3833619"/>
            <a:ext cx="617735" cy="1781"/>
          </a:xfrm>
          <a:prstGeom prst="straightConnector1">
            <a:avLst/>
          </a:prstGeom>
          <a:ln>
            <a:solidFill>
              <a:srgbClr val="F6804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2" name="TextBox 23">
            <a:extLst>
              <a:ext uri="{FF2B5EF4-FFF2-40B4-BE49-F238E27FC236}">
                <a16:creationId xmlns:a16="http://schemas.microsoft.com/office/drawing/2014/main" id="{463CA71A-0A97-494D-254B-3E3D02F6F55B}"/>
              </a:ext>
            </a:extLst>
          </p:cNvPr>
          <p:cNvSpPr txBox="1"/>
          <p:nvPr/>
        </p:nvSpPr>
        <p:spPr>
          <a:xfrm>
            <a:off x="1482714" y="2152649"/>
            <a:ext cx="781075" cy="241303"/>
          </a:xfrm>
          <a:prstGeom prst="rect">
            <a:avLst/>
          </a:prstGeom>
          <a:noFill/>
          <a:ln>
            <a:noFill/>
          </a:ln>
        </p:spPr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r>
              <a:rPr lang="en-US" sz="900" b="1" kern="0">
                <a:solidFill>
                  <a:srgbClr val="F68048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Continuous</a:t>
            </a:r>
            <a:endParaRPr kumimoji="0" lang="en-US" sz="900" b="1" i="0" u="none" strike="noStrike" kern="0" cap="none" spc="0" normalizeH="0" baseline="0" noProof="0">
              <a:ln>
                <a:noFill/>
              </a:ln>
              <a:solidFill>
                <a:srgbClr val="F68048"/>
              </a:solidFill>
              <a:effectLst/>
              <a:uLnTx/>
              <a:uFillTx/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173" name="TextBox 23">
            <a:extLst>
              <a:ext uri="{FF2B5EF4-FFF2-40B4-BE49-F238E27FC236}">
                <a16:creationId xmlns:a16="http://schemas.microsoft.com/office/drawing/2014/main" id="{29BF1689-4EC9-B72E-5502-BFDE13567FEC}"/>
              </a:ext>
            </a:extLst>
          </p:cNvPr>
          <p:cNvSpPr txBox="1"/>
          <p:nvPr/>
        </p:nvSpPr>
        <p:spPr>
          <a:xfrm>
            <a:off x="1485611" y="1431917"/>
            <a:ext cx="614361" cy="241303"/>
          </a:xfrm>
          <a:prstGeom prst="rect">
            <a:avLst/>
          </a:prstGeom>
          <a:noFill/>
          <a:ln>
            <a:noFill/>
          </a:ln>
        </p:spPr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r>
              <a:rPr kumimoji="0" lang="en-US" sz="900" b="1" i="0" u="none" strike="noStrike" kern="0" cap="none" spc="0" normalizeH="0" baseline="0" noProof="0">
                <a:ln>
                  <a:noFill/>
                </a:ln>
                <a:solidFill>
                  <a:srgbClr val="F68048"/>
                </a:solidFill>
                <a:effectLst/>
                <a:uLnTx/>
                <a:uFillTx/>
                <a:latin typeface="Roboto" panose="02000000000000000000" pitchFamily="2" charset="0"/>
                <a:ea typeface="Roboto" panose="02000000000000000000" pitchFamily="2" charset="0"/>
              </a:rPr>
              <a:t>Discrete</a:t>
            </a:r>
          </a:p>
        </p:txBody>
      </p:sp>
      <p:cxnSp>
        <p:nvCxnSpPr>
          <p:cNvPr id="174" name="Straight Arrow Connector 173">
            <a:extLst>
              <a:ext uri="{FF2B5EF4-FFF2-40B4-BE49-F238E27FC236}">
                <a16:creationId xmlns:a16="http://schemas.microsoft.com/office/drawing/2014/main" id="{D68D222A-FCA5-1B49-8516-6DB0B6822F6F}"/>
              </a:ext>
            </a:extLst>
          </p:cNvPr>
          <p:cNvCxnSpPr>
            <a:cxnSpLocks/>
            <a:stCxn id="172" idx="1"/>
            <a:endCxn id="77" idx="3"/>
          </p:cNvCxnSpPr>
          <p:nvPr/>
        </p:nvCxnSpPr>
        <p:spPr>
          <a:xfrm flipH="1" flipV="1">
            <a:off x="1316027" y="2268826"/>
            <a:ext cx="166687" cy="4475"/>
          </a:xfrm>
          <a:prstGeom prst="straightConnector1">
            <a:avLst/>
          </a:prstGeom>
          <a:ln>
            <a:solidFill>
              <a:srgbClr val="F6804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Straight Arrow Connector 176">
            <a:extLst>
              <a:ext uri="{FF2B5EF4-FFF2-40B4-BE49-F238E27FC236}">
                <a16:creationId xmlns:a16="http://schemas.microsoft.com/office/drawing/2014/main" id="{2DD0A97F-0E90-6CD2-4B57-DFDE784185F6}"/>
              </a:ext>
            </a:extLst>
          </p:cNvPr>
          <p:cNvCxnSpPr>
            <a:cxnSpLocks/>
            <a:stCxn id="173" idx="1"/>
            <a:endCxn id="76" idx="3"/>
          </p:cNvCxnSpPr>
          <p:nvPr/>
        </p:nvCxnSpPr>
        <p:spPr>
          <a:xfrm flipH="1" flipV="1">
            <a:off x="1237656" y="1548394"/>
            <a:ext cx="247955" cy="4175"/>
          </a:xfrm>
          <a:prstGeom prst="straightConnector1">
            <a:avLst/>
          </a:prstGeom>
          <a:ln>
            <a:solidFill>
              <a:srgbClr val="F6804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Connector: Elbow 180">
            <a:extLst>
              <a:ext uri="{FF2B5EF4-FFF2-40B4-BE49-F238E27FC236}">
                <a16:creationId xmlns:a16="http://schemas.microsoft.com/office/drawing/2014/main" id="{773C1819-39C3-80EF-D2D4-A7BA57A04F8B}"/>
              </a:ext>
            </a:extLst>
          </p:cNvPr>
          <p:cNvCxnSpPr>
            <a:cxnSpLocks/>
            <a:stCxn id="27" idx="0"/>
            <a:endCxn id="173" idx="3"/>
          </p:cNvCxnSpPr>
          <p:nvPr/>
        </p:nvCxnSpPr>
        <p:spPr>
          <a:xfrm rot="16200000" flipV="1">
            <a:off x="1890961" y="1761581"/>
            <a:ext cx="1012831" cy="594807"/>
          </a:xfrm>
          <a:prstGeom prst="bentConnector2">
            <a:avLst/>
          </a:prstGeom>
          <a:ln>
            <a:solidFill>
              <a:srgbClr val="F6804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Connector: Elbow 183">
            <a:extLst>
              <a:ext uri="{FF2B5EF4-FFF2-40B4-BE49-F238E27FC236}">
                <a16:creationId xmlns:a16="http://schemas.microsoft.com/office/drawing/2014/main" id="{2455B1EC-B988-48E9-A141-0C2FC1F7DF2F}"/>
              </a:ext>
            </a:extLst>
          </p:cNvPr>
          <p:cNvCxnSpPr>
            <a:cxnSpLocks/>
            <a:stCxn id="27" idx="0"/>
            <a:endCxn id="172" idx="3"/>
          </p:cNvCxnSpPr>
          <p:nvPr/>
        </p:nvCxnSpPr>
        <p:spPr>
          <a:xfrm rot="16200000" flipV="1">
            <a:off x="2333235" y="2203856"/>
            <a:ext cx="292099" cy="430990"/>
          </a:xfrm>
          <a:prstGeom prst="bentConnector2">
            <a:avLst/>
          </a:prstGeom>
          <a:ln>
            <a:solidFill>
              <a:srgbClr val="F6804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Connector: Elbow 186">
            <a:extLst>
              <a:ext uri="{FF2B5EF4-FFF2-40B4-BE49-F238E27FC236}">
                <a16:creationId xmlns:a16="http://schemas.microsoft.com/office/drawing/2014/main" id="{46D7A08C-208C-EB2E-097F-2E529BF2E59E}"/>
              </a:ext>
            </a:extLst>
          </p:cNvPr>
          <p:cNvCxnSpPr>
            <a:cxnSpLocks/>
            <a:stCxn id="51" idx="0"/>
            <a:endCxn id="74" idx="2"/>
          </p:cNvCxnSpPr>
          <p:nvPr/>
        </p:nvCxnSpPr>
        <p:spPr>
          <a:xfrm rot="5400000" flipH="1" flipV="1">
            <a:off x="5149855" y="457199"/>
            <a:ext cx="406391" cy="1517644"/>
          </a:xfrm>
          <a:prstGeom prst="bentConnector3">
            <a:avLst>
              <a:gd name="adj1" fmla="val 50000"/>
            </a:avLst>
          </a:prstGeom>
          <a:ln>
            <a:solidFill>
              <a:srgbClr val="0D1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Connector: Elbow 189">
            <a:extLst>
              <a:ext uri="{FF2B5EF4-FFF2-40B4-BE49-F238E27FC236}">
                <a16:creationId xmlns:a16="http://schemas.microsoft.com/office/drawing/2014/main" id="{B89B4889-DFD1-F3BE-22A8-26374DC95A96}"/>
              </a:ext>
            </a:extLst>
          </p:cNvPr>
          <p:cNvCxnSpPr>
            <a:cxnSpLocks/>
            <a:stCxn id="50" idx="3"/>
            <a:endCxn id="74" idx="1"/>
          </p:cNvCxnSpPr>
          <p:nvPr/>
        </p:nvCxnSpPr>
        <p:spPr>
          <a:xfrm flipV="1">
            <a:off x="3853663" y="885031"/>
            <a:ext cx="2007381" cy="654840"/>
          </a:xfrm>
          <a:prstGeom prst="bentConnector3">
            <a:avLst>
              <a:gd name="adj1" fmla="val 12040"/>
            </a:avLst>
          </a:prstGeom>
          <a:ln>
            <a:solidFill>
              <a:srgbClr val="0D1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4" name="Straight Arrow Connector 193">
            <a:extLst>
              <a:ext uri="{FF2B5EF4-FFF2-40B4-BE49-F238E27FC236}">
                <a16:creationId xmlns:a16="http://schemas.microsoft.com/office/drawing/2014/main" id="{D0129C32-B09F-ACAF-9A09-6C7C3FC1BDF1}"/>
              </a:ext>
            </a:extLst>
          </p:cNvPr>
          <p:cNvCxnSpPr>
            <a:cxnSpLocks/>
            <a:stCxn id="50" idx="0"/>
            <a:endCxn id="75" idx="2"/>
          </p:cNvCxnSpPr>
          <p:nvPr/>
        </p:nvCxnSpPr>
        <p:spPr>
          <a:xfrm flipH="1" flipV="1">
            <a:off x="3471864" y="997665"/>
            <a:ext cx="2385" cy="421554"/>
          </a:xfrm>
          <a:prstGeom prst="straightConnector1">
            <a:avLst/>
          </a:prstGeom>
          <a:ln>
            <a:solidFill>
              <a:srgbClr val="0D1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7" name="Straight Arrow Connector 196">
            <a:extLst>
              <a:ext uri="{FF2B5EF4-FFF2-40B4-BE49-F238E27FC236}">
                <a16:creationId xmlns:a16="http://schemas.microsoft.com/office/drawing/2014/main" id="{28DB592F-52F8-7BB9-00EE-896AB0B2ECFF}"/>
              </a:ext>
            </a:extLst>
          </p:cNvPr>
          <p:cNvCxnSpPr>
            <a:cxnSpLocks/>
            <a:stCxn id="53" idx="0"/>
            <a:endCxn id="73" idx="2"/>
          </p:cNvCxnSpPr>
          <p:nvPr/>
        </p:nvCxnSpPr>
        <p:spPr>
          <a:xfrm flipH="1" flipV="1">
            <a:off x="8396304" y="991698"/>
            <a:ext cx="5541" cy="427518"/>
          </a:xfrm>
          <a:prstGeom prst="straightConnector1">
            <a:avLst/>
          </a:prstGeom>
          <a:ln>
            <a:solidFill>
              <a:srgbClr val="0D1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Arrow Connector 199">
            <a:extLst>
              <a:ext uri="{FF2B5EF4-FFF2-40B4-BE49-F238E27FC236}">
                <a16:creationId xmlns:a16="http://schemas.microsoft.com/office/drawing/2014/main" id="{70094FB6-2761-34BE-2AB2-555A6B17B44F}"/>
              </a:ext>
            </a:extLst>
          </p:cNvPr>
          <p:cNvCxnSpPr>
            <a:cxnSpLocks/>
            <a:stCxn id="48" idx="3"/>
            <a:endCxn id="15" idx="1"/>
          </p:cNvCxnSpPr>
          <p:nvPr/>
        </p:nvCxnSpPr>
        <p:spPr>
          <a:xfrm>
            <a:off x="9657558" y="3015762"/>
            <a:ext cx="712999" cy="4077"/>
          </a:xfrm>
          <a:prstGeom prst="straightConnector1">
            <a:avLst/>
          </a:prstGeom>
          <a:ln>
            <a:solidFill>
              <a:srgbClr val="F6804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5" name="Straight Arrow Connector 204">
            <a:extLst>
              <a:ext uri="{FF2B5EF4-FFF2-40B4-BE49-F238E27FC236}">
                <a16:creationId xmlns:a16="http://schemas.microsoft.com/office/drawing/2014/main" id="{2ADD1339-D1DC-2A96-D016-02B98EDE855D}"/>
              </a:ext>
            </a:extLst>
          </p:cNvPr>
          <p:cNvCxnSpPr>
            <a:cxnSpLocks/>
            <a:stCxn id="47" idx="3"/>
            <a:endCxn id="16" idx="1"/>
          </p:cNvCxnSpPr>
          <p:nvPr/>
        </p:nvCxnSpPr>
        <p:spPr>
          <a:xfrm flipV="1">
            <a:off x="9485313" y="3641725"/>
            <a:ext cx="858041" cy="2"/>
          </a:xfrm>
          <a:prstGeom prst="straightConnector1">
            <a:avLst/>
          </a:prstGeom>
          <a:ln>
            <a:solidFill>
              <a:srgbClr val="F6804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Connector: Elbow 209">
            <a:extLst>
              <a:ext uri="{FF2B5EF4-FFF2-40B4-BE49-F238E27FC236}">
                <a16:creationId xmlns:a16="http://schemas.microsoft.com/office/drawing/2014/main" id="{85993EC1-9139-989F-10FE-4788A55BFE29}"/>
              </a:ext>
            </a:extLst>
          </p:cNvPr>
          <p:cNvCxnSpPr>
            <a:cxnSpLocks/>
            <a:stCxn id="31" idx="2"/>
            <a:endCxn id="18" idx="0"/>
          </p:cNvCxnSpPr>
          <p:nvPr/>
        </p:nvCxnSpPr>
        <p:spPr>
          <a:xfrm rot="16200000" flipH="1">
            <a:off x="3117257" y="5460003"/>
            <a:ext cx="336949" cy="427841"/>
          </a:xfrm>
          <a:prstGeom prst="bentConnector3">
            <a:avLst>
              <a:gd name="adj1" fmla="val 50000"/>
            </a:avLst>
          </a:prstGeom>
          <a:ln>
            <a:solidFill>
              <a:srgbClr val="0D1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Connector: Elbow 214">
            <a:extLst>
              <a:ext uri="{FF2B5EF4-FFF2-40B4-BE49-F238E27FC236}">
                <a16:creationId xmlns:a16="http://schemas.microsoft.com/office/drawing/2014/main" id="{5BE78C1B-6A4F-A16B-E758-129761881397}"/>
              </a:ext>
            </a:extLst>
          </p:cNvPr>
          <p:cNvCxnSpPr>
            <a:cxnSpLocks/>
            <a:stCxn id="31" idx="2"/>
            <a:endCxn id="17" idx="0"/>
          </p:cNvCxnSpPr>
          <p:nvPr/>
        </p:nvCxnSpPr>
        <p:spPr>
          <a:xfrm rot="5400000">
            <a:off x="2206085" y="4979724"/>
            <a:ext cx="340000" cy="1391452"/>
          </a:xfrm>
          <a:prstGeom prst="bentConnector3">
            <a:avLst>
              <a:gd name="adj1" fmla="val 50000"/>
            </a:avLst>
          </a:prstGeom>
          <a:ln>
            <a:solidFill>
              <a:srgbClr val="0D1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8" name="Straight Arrow Connector 217">
            <a:extLst>
              <a:ext uri="{FF2B5EF4-FFF2-40B4-BE49-F238E27FC236}">
                <a16:creationId xmlns:a16="http://schemas.microsoft.com/office/drawing/2014/main" id="{7A35F48E-69F8-257A-165E-DD333577E7FC}"/>
              </a:ext>
            </a:extLst>
          </p:cNvPr>
          <p:cNvCxnSpPr>
            <a:cxnSpLocks/>
            <a:stCxn id="4" idx="2"/>
            <a:endCxn id="8" idx="0"/>
          </p:cNvCxnSpPr>
          <p:nvPr/>
        </p:nvCxnSpPr>
        <p:spPr>
          <a:xfrm>
            <a:off x="6135686" y="3717925"/>
            <a:ext cx="1" cy="304800"/>
          </a:xfrm>
          <a:prstGeom prst="straightConnector1">
            <a:avLst/>
          </a:prstGeom>
          <a:ln>
            <a:solidFill>
              <a:srgbClr val="0D1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1" name="Straight Arrow Connector 220">
            <a:extLst>
              <a:ext uri="{FF2B5EF4-FFF2-40B4-BE49-F238E27FC236}">
                <a16:creationId xmlns:a16="http://schemas.microsoft.com/office/drawing/2014/main" id="{FC5167E1-DD2F-20A2-3D24-77FBADED2D63}"/>
              </a:ext>
            </a:extLst>
          </p:cNvPr>
          <p:cNvCxnSpPr>
            <a:cxnSpLocks/>
            <a:stCxn id="4" idx="3"/>
            <a:endCxn id="6" idx="1"/>
          </p:cNvCxnSpPr>
          <p:nvPr/>
        </p:nvCxnSpPr>
        <p:spPr>
          <a:xfrm>
            <a:off x="6983411" y="3378200"/>
            <a:ext cx="238125" cy="0"/>
          </a:xfrm>
          <a:prstGeom prst="straightConnector1">
            <a:avLst/>
          </a:prstGeom>
          <a:ln>
            <a:solidFill>
              <a:srgbClr val="F6804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4" name="Straight Arrow Connector 223">
            <a:extLst>
              <a:ext uri="{FF2B5EF4-FFF2-40B4-BE49-F238E27FC236}">
                <a16:creationId xmlns:a16="http://schemas.microsoft.com/office/drawing/2014/main" id="{10E1E95C-78A8-C779-9BD6-E193D6534131}"/>
              </a:ext>
            </a:extLst>
          </p:cNvPr>
          <p:cNvCxnSpPr>
            <a:cxnSpLocks/>
            <a:stCxn id="4" idx="0"/>
            <a:endCxn id="5" idx="2"/>
          </p:cNvCxnSpPr>
          <p:nvPr/>
        </p:nvCxnSpPr>
        <p:spPr>
          <a:xfrm flipV="1">
            <a:off x="6135686" y="2733675"/>
            <a:ext cx="0" cy="304800"/>
          </a:xfrm>
          <a:prstGeom prst="straightConnector1">
            <a:avLst/>
          </a:prstGeom>
          <a:ln>
            <a:solidFill>
              <a:srgbClr val="0D1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7" name="Straight Arrow Connector 226">
            <a:extLst>
              <a:ext uri="{FF2B5EF4-FFF2-40B4-BE49-F238E27FC236}">
                <a16:creationId xmlns:a16="http://schemas.microsoft.com/office/drawing/2014/main" id="{562B866A-9E99-C0D0-1437-07CB119E8F03}"/>
              </a:ext>
            </a:extLst>
          </p:cNvPr>
          <p:cNvCxnSpPr>
            <a:cxnSpLocks/>
            <a:stCxn id="4" idx="1"/>
            <a:endCxn id="7" idx="3"/>
          </p:cNvCxnSpPr>
          <p:nvPr/>
        </p:nvCxnSpPr>
        <p:spPr>
          <a:xfrm flipH="1">
            <a:off x="5049836" y="3378200"/>
            <a:ext cx="238125" cy="0"/>
          </a:xfrm>
          <a:prstGeom prst="straightConnector1">
            <a:avLst/>
          </a:prstGeom>
          <a:ln>
            <a:solidFill>
              <a:srgbClr val="F6804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7A9F78CE-534A-6FAC-09B1-6FFEEDEC7C0D}"/>
              </a:ext>
            </a:extLst>
          </p:cNvPr>
          <p:cNvCxnSpPr>
            <a:cxnSpLocks/>
            <a:stCxn id="44" idx="2"/>
            <a:endCxn id="20" idx="0"/>
          </p:cNvCxnSpPr>
          <p:nvPr/>
        </p:nvCxnSpPr>
        <p:spPr>
          <a:xfrm>
            <a:off x="7611273" y="5553069"/>
            <a:ext cx="1600" cy="127003"/>
          </a:xfrm>
          <a:prstGeom prst="straightConnector1">
            <a:avLst/>
          </a:prstGeom>
          <a:ln>
            <a:solidFill>
              <a:srgbClr val="0D1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12FD9837-5C58-2607-FAE3-91D01A64D5D8}"/>
              </a:ext>
            </a:extLst>
          </p:cNvPr>
          <p:cNvCxnSpPr>
            <a:cxnSpLocks/>
            <a:stCxn id="45" idx="2"/>
            <a:endCxn id="21" idx="0"/>
          </p:cNvCxnSpPr>
          <p:nvPr/>
        </p:nvCxnSpPr>
        <p:spPr>
          <a:xfrm>
            <a:off x="8880477" y="5553069"/>
            <a:ext cx="4754" cy="153978"/>
          </a:xfrm>
          <a:prstGeom prst="straightConnector1">
            <a:avLst/>
          </a:prstGeom>
          <a:ln>
            <a:solidFill>
              <a:srgbClr val="0D1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0D18F68A-0F54-3199-8528-B8B8965C9A31}"/>
              </a:ext>
            </a:extLst>
          </p:cNvPr>
          <p:cNvCxnSpPr>
            <a:cxnSpLocks/>
            <a:stCxn id="46" idx="2"/>
            <a:endCxn id="72" idx="0"/>
          </p:cNvCxnSpPr>
          <p:nvPr/>
        </p:nvCxnSpPr>
        <p:spPr>
          <a:xfrm>
            <a:off x="10000456" y="5553069"/>
            <a:ext cx="0" cy="151783"/>
          </a:xfrm>
          <a:prstGeom prst="straightConnector1">
            <a:avLst/>
          </a:prstGeom>
          <a:ln>
            <a:solidFill>
              <a:srgbClr val="0D1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2" name="Picture 61">
            <a:extLst>
              <a:ext uri="{FF2B5EF4-FFF2-40B4-BE49-F238E27FC236}">
                <a16:creationId xmlns:a16="http://schemas.microsoft.com/office/drawing/2014/main" id="{AF0EA457-1253-E732-176A-E132ABAABD1B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11899" y="117678"/>
            <a:ext cx="1274324" cy="658401"/>
          </a:xfrm>
          <a:prstGeom prst="rect">
            <a:avLst/>
          </a:prstGeom>
          <a:noFill/>
        </p:spPr>
      </p:pic>
      <p:pic>
        <p:nvPicPr>
          <p:cNvPr id="68" name="Picture 67">
            <a:extLst>
              <a:ext uri="{FF2B5EF4-FFF2-40B4-BE49-F238E27FC236}">
                <a16:creationId xmlns:a16="http://schemas.microsoft.com/office/drawing/2014/main" id="{D170D61D-6C2C-0A21-3BD2-E0BFBE380FBD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04066" y="2058713"/>
            <a:ext cx="889000" cy="889000"/>
          </a:xfrm>
          <a:prstGeom prst="rect">
            <a:avLst/>
          </a:prstGeom>
          <a:noFill/>
        </p:spPr>
      </p:pic>
      <p:pic>
        <p:nvPicPr>
          <p:cNvPr id="79" name="Picture 78">
            <a:extLst>
              <a:ext uri="{FF2B5EF4-FFF2-40B4-BE49-F238E27FC236}">
                <a16:creationId xmlns:a16="http://schemas.microsoft.com/office/drawing/2014/main" id="{018B9B2C-EE23-B7BE-CE56-EDCAE1DB1D8C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10488074" y="3719614"/>
            <a:ext cx="939282" cy="782735"/>
          </a:xfrm>
          <a:prstGeom prst="rect">
            <a:avLst/>
          </a:prstGeom>
          <a:noFill/>
        </p:spPr>
      </p:pic>
      <p:pic>
        <p:nvPicPr>
          <p:cNvPr id="86" name="Picture 85">
            <a:extLst>
              <a:ext uri="{FF2B5EF4-FFF2-40B4-BE49-F238E27FC236}">
                <a16:creationId xmlns:a16="http://schemas.microsoft.com/office/drawing/2014/main" id="{0461FE87-1DAE-2819-4C9F-6CDE8BAD54D5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631" y="3907438"/>
            <a:ext cx="650081" cy="650081"/>
          </a:xfrm>
          <a:prstGeom prst="rect">
            <a:avLst/>
          </a:prstGeom>
          <a:noFill/>
        </p:spPr>
      </p:pic>
      <p:pic>
        <p:nvPicPr>
          <p:cNvPr id="101" name="Picture 100">
            <a:extLst>
              <a:ext uri="{FF2B5EF4-FFF2-40B4-BE49-F238E27FC236}">
                <a16:creationId xmlns:a16="http://schemas.microsoft.com/office/drawing/2014/main" id="{1CE30528-25A9-5176-5B73-FCEF0FCFC1D6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8099" y="2315737"/>
            <a:ext cx="680519" cy="680519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5970511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AE119155-A370-A7C2-4BBE-3EC5CF454512}"/>
              </a:ext>
            </a:extLst>
          </p:cNvPr>
          <p:cNvSpPr/>
          <p:nvPr/>
        </p:nvSpPr>
        <p:spPr>
          <a:xfrm>
            <a:off x="3008513" y="341513"/>
            <a:ext cx="6174974" cy="617497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>
                  <a:lumMod val="85000"/>
                </a:schemeClr>
              </a:solidFill>
            </a:endParaRP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1712B0F0-BC57-A18C-3AA1-5559A06885D6}"/>
              </a:ext>
            </a:extLst>
          </p:cNvPr>
          <p:cNvCxnSpPr>
            <a:cxnSpLocks/>
          </p:cNvCxnSpPr>
          <p:nvPr/>
        </p:nvCxnSpPr>
        <p:spPr>
          <a:xfrm>
            <a:off x="3333136" y="3429000"/>
            <a:ext cx="5525729" cy="0"/>
          </a:xfrm>
          <a:prstGeom prst="straightConnector1">
            <a:avLst/>
          </a:prstGeom>
          <a:ln w="19050">
            <a:solidFill>
              <a:srgbClr val="0D1A63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F1060F70-C457-2A5B-AE14-4E65C66BC393}"/>
              </a:ext>
            </a:extLst>
          </p:cNvPr>
          <p:cNvCxnSpPr>
            <a:cxnSpLocks/>
          </p:cNvCxnSpPr>
          <p:nvPr/>
        </p:nvCxnSpPr>
        <p:spPr>
          <a:xfrm rot="16200000">
            <a:off x="3333136" y="3429000"/>
            <a:ext cx="5525729" cy="0"/>
          </a:xfrm>
          <a:prstGeom prst="straightConnector1">
            <a:avLst/>
          </a:prstGeom>
          <a:ln w="19050">
            <a:solidFill>
              <a:srgbClr val="0D1A63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226680B1-86D3-1AA8-2332-924C645FC18E}"/>
              </a:ext>
            </a:extLst>
          </p:cNvPr>
          <p:cNvSpPr txBox="1"/>
          <p:nvPr/>
        </p:nvSpPr>
        <p:spPr>
          <a:xfrm>
            <a:off x="7551174" y="3086706"/>
            <a:ext cx="16145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>
                <a:solidFill>
                  <a:srgbClr val="0D1A6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DATA-DRIVEN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5D63CCF-A92A-6948-D50E-FB43122D4A31}"/>
              </a:ext>
            </a:extLst>
          </p:cNvPr>
          <p:cNvSpPr txBox="1"/>
          <p:nvPr/>
        </p:nvSpPr>
        <p:spPr>
          <a:xfrm>
            <a:off x="3026281" y="3429000"/>
            <a:ext cx="16482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>
                <a:solidFill>
                  <a:srgbClr val="0D1A6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CONCEPTUAL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D9973A5-9B6D-419F-7EDF-7BFBB31A4F41}"/>
              </a:ext>
            </a:extLst>
          </p:cNvPr>
          <p:cNvSpPr txBox="1"/>
          <p:nvPr/>
        </p:nvSpPr>
        <p:spPr>
          <a:xfrm rot="16200000">
            <a:off x="5084024" y="1035592"/>
            <a:ext cx="16546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>
                <a:solidFill>
                  <a:srgbClr val="0D1A6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DECLARATIVE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ED70EC3-B2C9-5CF3-627E-F1DE78356432}"/>
              </a:ext>
            </a:extLst>
          </p:cNvPr>
          <p:cNvSpPr txBox="1"/>
          <p:nvPr/>
        </p:nvSpPr>
        <p:spPr>
          <a:xfrm rot="16200000">
            <a:off x="5416488" y="5467642"/>
            <a:ext cx="17283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>
                <a:solidFill>
                  <a:srgbClr val="0D1A6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EXPLORATORY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54F3141-D069-530A-14A4-2CF00CC00E82}"/>
              </a:ext>
            </a:extLst>
          </p:cNvPr>
          <p:cNvSpPr txBox="1"/>
          <p:nvPr/>
        </p:nvSpPr>
        <p:spPr>
          <a:xfrm>
            <a:off x="7048073" y="1579157"/>
            <a:ext cx="147572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/>
              <a:t>Everyday</a:t>
            </a:r>
          </a:p>
          <a:p>
            <a:r>
              <a:rPr lang="vi-VN"/>
              <a:t>Visualisation</a:t>
            </a:r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8026490-783D-1BF7-1AF8-B456C3796692}"/>
              </a:ext>
            </a:extLst>
          </p:cNvPr>
          <p:cNvSpPr txBox="1"/>
          <p:nvPr/>
        </p:nvSpPr>
        <p:spPr>
          <a:xfrm>
            <a:off x="7048073" y="4632512"/>
            <a:ext cx="118333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Roboto" panose="02000000000000000000" pitchFamily="2" charset="0"/>
                <a:ea typeface="Roboto" panose="02000000000000000000" pitchFamily="2" charset="0"/>
              </a:rPr>
              <a:t>Visual</a:t>
            </a:r>
            <a:br>
              <a:rPr lang="en-US">
                <a:latin typeface="Roboto" panose="02000000000000000000" pitchFamily="2" charset="0"/>
                <a:ea typeface="Roboto" panose="02000000000000000000" pitchFamily="2" charset="0"/>
              </a:rPr>
            </a:br>
            <a:r>
              <a:rPr lang="en-US">
                <a:latin typeface="Roboto" panose="02000000000000000000" pitchFamily="2" charset="0"/>
                <a:ea typeface="Roboto" panose="02000000000000000000" pitchFamily="2" charset="0"/>
              </a:rPr>
              <a:t>Discovery</a:t>
            </a:r>
            <a:endParaRPr lang="vi-VN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91B02DD-DE1A-C8C6-4DAA-614F84857FE0}"/>
              </a:ext>
            </a:extLst>
          </p:cNvPr>
          <p:cNvSpPr txBox="1"/>
          <p:nvPr/>
        </p:nvSpPr>
        <p:spPr>
          <a:xfrm>
            <a:off x="3960588" y="4666644"/>
            <a:ext cx="130356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Roboto" panose="02000000000000000000" pitchFamily="2" charset="0"/>
                <a:ea typeface="Roboto" panose="02000000000000000000" pitchFamily="2" charset="0"/>
              </a:rPr>
              <a:t>Idea</a:t>
            </a:r>
            <a:br>
              <a:rPr lang="en-US">
                <a:latin typeface="Roboto" panose="02000000000000000000" pitchFamily="2" charset="0"/>
                <a:ea typeface="Roboto" panose="02000000000000000000" pitchFamily="2" charset="0"/>
              </a:rPr>
            </a:br>
            <a:r>
              <a:rPr lang="en-US">
                <a:latin typeface="Roboto" panose="02000000000000000000" pitchFamily="2" charset="0"/>
                <a:ea typeface="Roboto" panose="02000000000000000000" pitchFamily="2" charset="0"/>
              </a:rPr>
              <a:t>Generation</a:t>
            </a:r>
            <a:endParaRPr lang="vi-VN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4518D20-5202-03BC-E550-5A4DA34F5CF0}"/>
              </a:ext>
            </a:extLst>
          </p:cNvPr>
          <p:cNvSpPr txBox="1"/>
          <p:nvPr/>
        </p:nvSpPr>
        <p:spPr>
          <a:xfrm>
            <a:off x="3955991" y="1579157"/>
            <a:ext cx="126989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Roboto" panose="02000000000000000000" pitchFamily="2" charset="0"/>
                <a:ea typeface="Roboto" panose="02000000000000000000" pitchFamily="2" charset="0"/>
              </a:rPr>
              <a:t>Idea</a:t>
            </a:r>
            <a:br>
              <a:rPr lang="en-US">
                <a:latin typeface="Roboto" panose="02000000000000000000" pitchFamily="2" charset="0"/>
                <a:ea typeface="Roboto" panose="02000000000000000000" pitchFamily="2" charset="0"/>
              </a:rPr>
            </a:br>
            <a:r>
              <a:rPr lang="en-US">
                <a:latin typeface="Roboto" panose="02000000000000000000" pitchFamily="2" charset="0"/>
                <a:ea typeface="Roboto" panose="02000000000000000000" pitchFamily="2" charset="0"/>
              </a:rPr>
              <a:t>Illustration</a:t>
            </a:r>
            <a:endParaRPr lang="vi-VN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1A6A4A3-4FB0-B5FB-F576-A37DF7FBE0BA}"/>
              </a:ext>
            </a:extLst>
          </p:cNvPr>
          <p:cNvSpPr txBox="1"/>
          <p:nvPr/>
        </p:nvSpPr>
        <p:spPr>
          <a:xfrm>
            <a:off x="2982898" y="-149302"/>
            <a:ext cx="32143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>
                <a:solidFill>
                  <a:srgbClr val="F68048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THE FOUR TYPES OF VISUAL</a:t>
            </a:r>
          </a:p>
        </p:txBody>
      </p:sp>
    </p:spTree>
    <p:extLst>
      <p:ext uri="{BB962C8B-B14F-4D97-AF65-F5344CB8AC3E}">
        <p14:creationId xmlns:p14="http://schemas.microsoft.com/office/powerpoint/2010/main" val="31979564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4B0E20-50A2-3CA1-DFFE-38B56FDCC0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Chart 1">
            <a:extLst>
              <a:ext uri="{FF2B5EF4-FFF2-40B4-BE49-F238E27FC236}">
                <a16:creationId xmlns:a16="http://schemas.microsoft.com/office/drawing/2014/main" id="{97758216-8D12-7774-F607-E5CFF7942E1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607108054"/>
              </p:ext>
            </p:extLst>
          </p:nvPr>
        </p:nvGraphicFramePr>
        <p:xfrm>
          <a:off x="1728789" y="2057400"/>
          <a:ext cx="2828925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3" name="Chart 2">
            <a:extLst>
              <a:ext uri="{FF2B5EF4-FFF2-40B4-BE49-F238E27FC236}">
                <a16:creationId xmlns:a16="http://schemas.microsoft.com/office/drawing/2014/main" id="{130D2DEA-409B-4B29-9032-0EA0FCDB630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942966902"/>
              </p:ext>
            </p:extLst>
          </p:nvPr>
        </p:nvGraphicFramePr>
        <p:xfrm>
          <a:off x="4681538" y="2057400"/>
          <a:ext cx="2828925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4" name="Chart 3">
            <a:extLst>
              <a:ext uri="{FF2B5EF4-FFF2-40B4-BE49-F238E27FC236}">
                <a16:creationId xmlns:a16="http://schemas.microsoft.com/office/drawing/2014/main" id="{35C28FFE-5B1F-4597-A12E-B55809F5603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558793364"/>
              </p:ext>
            </p:extLst>
          </p:nvPr>
        </p:nvGraphicFramePr>
        <p:xfrm>
          <a:off x="7634287" y="2057400"/>
          <a:ext cx="2828925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6" name="TextBox 4">
            <a:extLst>
              <a:ext uri="{FF2B5EF4-FFF2-40B4-BE49-F238E27FC236}">
                <a16:creationId xmlns:a16="http://schemas.microsoft.com/office/drawing/2014/main" id="{0F8CA8F0-C1F3-9EE8-3FC2-36BE9DC35933}"/>
              </a:ext>
            </a:extLst>
          </p:cNvPr>
          <p:cNvSpPr txBox="1"/>
          <p:nvPr/>
        </p:nvSpPr>
        <p:spPr>
          <a:xfrm>
            <a:off x="1728788" y="1780401"/>
            <a:ext cx="1091966" cy="276999"/>
          </a:xfrm>
          <a:prstGeom prst="rect">
            <a:avLst/>
          </a:prstGeom>
          <a:noFill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wrap="none" rtlCol="0" anchor="t">
            <a:spAutoFit/>
          </a:bodyPr>
          <a:lstStyle>
            <a:lvl1pPr marL="0" indent="0">
              <a:defRPr sz="11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b="1">
                <a:latin typeface="Roboto" panose="02000000000000000000" pitchFamily="2" charset="0"/>
                <a:ea typeface="Roboto" panose="02000000000000000000" pitchFamily="2" charset="0"/>
              </a:rPr>
              <a:t>Single</a:t>
            </a:r>
            <a:r>
              <a:rPr lang="en-US" sz="1200" b="1" baseline="0">
                <a:latin typeface="Roboto" panose="02000000000000000000" pitchFamily="2" charset="0"/>
                <a:ea typeface="Roboto" panose="02000000000000000000" pitchFamily="2" charset="0"/>
              </a:rPr>
              <a:t> Series</a:t>
            </a:r>
          </a:p>
        </p:txBody>
      </p:sp>
      <p:sp>
        <p:nvSpPr>
          <p:cNvPr id="8" name="TextBox 4">
            <a:extLst>
              <a:ext uri="{FF2B5EF4-FFF2-40B4-BE49-F238E27FC236}">
                <a16:creationId xmlns:a16="http://schemas.microsoft.com/office/drawing/2014/main" id="{B0CE646B-21F6-5804-CB95-14A1C6A288EF}"/>
              </a:ext>
            </a:extLst>
          </p:cNvPr>
          <p:cNvSpPr txBox="1"/>
          <p:nvPr/>
        </p:nvSpPr>
        <p:spPr>
          <a:xfrm>
            <a:off x="4681537" y="1780401"/>
            <a:ext cx="949299" cy="276999"/>
          </a:xfrm>
          <a:prstGeom prst="rect">
            <a:avLst/>
          </a:prstGeom>
          <a:noFill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wrap="none" rtlCol="0" anchor="t">
            <a:spAutoFit/>
          </a:bodyPr>
          <a:lstStyle>
            <a:lvl1pPr marL="0" indent="0">
              <a:defRPr sz="11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b="1">
                <a:latin typeface="Roboto" panose="02000000000000000000" pitchFamily="2" charset="0"/>
                <a:ea typeface="Roboto" panose="02000000000000000000" pitchFamily="2" charset="0"/>
              </a:rPr>
              <a:t>Two</a:t>
            </a:r>
            <a:r>
              <a:rPr lang="en-US" sz="1200" b="1" baseline="0">
                <a:latin typeface="Roboto" panose="02000000000000000000" pitchFamily="2" charset="0"/>
                <a:ea typeface="Roboto" panose="02000000000000000000" pitchFamily="2" charset="0"/>
              </a:rPr>
              <a:t> Series</a:t>
            </a:r>
          </a:p>
        </p:txBody>
      </p:sp>
      <p:sp>
        <p:nvSpPr>
          <p:cNvPr id="9" name="TextBox 4">
            <a:extLst>
              <a:ext uri="{FF2B5EF4-FFF2-40B4-BE49-F238E27FC236}">
                <a16:creationId xmlns:a16="http://schemas.microsoft.com/office/drawing/2014/main" id="{6E638393-8F2E-A5B6-BE95-BFB3E360AEBC}"/>
              </a:ext>
            </a:extLst>
          </p:cNvPr>
          <p:cNvSpPr txBox="1"/>
          <p:nvPr/>
        </p:nvSpPr>
        <p:spPr>
          <a:xfrm>
            <a:off x="7634287" y="1780401"/>
            <a:ext cx="1223412" cy="276999"/>
          </a:xfrm>
          <a:prstGeom prst="rect">
            <a:avLst/>
          </a:prstGeom>
          <a:noFill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wrap="none" rtlCol="0" anchor="t">
            <a:spAutoFit/>
          </a:bodyPr>
          <a:lstStyle>
            <a:lvl1pPr marL="0" indent="0">
              <a:defRPr sz="11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b="1">
                <a:latin typeface="Roboto" panose="02000000000000000000" pitchFamily="2" charset="0"/>
                <a:ea typeface="Roboto" panose="02000000000000000000" pitchFamily="2" charset="0"/>
              </a:rPr>
              <a:t>Multiple</a:t>
            </a:r>
            <a:r>
              <a:rPr lang="en-US" sz="1200" b="1" baseline="0">
                <a:latin typeface="Roboto" panose="02000000000000000000" pitchFamily="2" charset="0"/>
                <a:ea typeface="Roboto" panose="02000000000000000000" pitchFamily="2" charset="0"/>
              </a:rPr>
              <a:t> Series</a:t>
            </a:r>
          </a:p>
        </p:txBody>
      </p:sp>
    </p:spTree>
    <p:extLst>
      <p:ext uri="{BB962C8B-B14F-4D97-AF65-F5344CB8AC3E}">
        <p14:creationId xmlns:p14="http://schemas.microsoft.com/office/powerpoint/2010/main" val="21399363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B3FD69-E5C5-0295-FFBE-77D9612834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Chart 4">
            <a:extLst>
              <a:ext uri="{FF2B5EF4-FFF2-40B4-BE49-F238E27FC236}">
                <a16:creationId xmlns:a16="http://schemas.microsoft.com/office/drawing/2014/main" id="{8779AA7A-58A5-478D-B6BC-220E9974B2E0}"/>
              </a:ext>
            </a:extLst>
          </p:cNvPr>
          <p:cNvGraphicFramePr>
            <a:graphicFrameLocks/>
          </p:cNvGraphicFramePr>
          <p:nvPr/>
        </p:nvGraphicFramePr>
        <p:xfrm>
          <a:off x="4678253" y="2057400"/>
          <a:ext cx="2835494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7" name="TextBox 4">
            <a:extLst>
              <a:ext uri="{FF2B5EF4-FFF2-40B4-BE49-F238E27FC236}">
                <a16:creationId xmlns:a16="http://schemas.microsoft.com/office/drawing/2014/main" id="{C0642F04-D6B6-F326-A7ED-D4905BCDAE91}"/>
              </a:ext>
            </a:extLst>
          </p:cNvPr>
          <p:cNvSpPr txBox="1"/>
          <p:nvPr/>
        </p:nvSpPr>
        <p:spPr>
          <a:xfrm>
            <a:off x="4681537" y="1780401"/>
            <a:ext cx="1402948" cy="276999"/>
          </a:xfrm>
          <a:prstGeom prst="rect">
            <a:avLst/>
          </a:prstGeom>
          <a:noFill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wrap="none" rtlCol="0" anchor="t">
            <a:spAutoFit/>
          </a:bodyPr>
          <a:lstStyle>
            <a:lvl1pPr marL="0" indent="0">
              <a:defRPr sz="11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b="1">
                <a:latin typeface="Roboto" panose="02000000000000000000" pitchFamily="2" charset="0"/>
                <a:ea typeface="Roboto" panose="02000000000000000000" pitchFamily="2" charset="0"/>
              </a:rPr>
              <a:t>Stacked bar chart</a:t>
            </a:r>
            <a:endParaRPr lang="en-US" sz="1200" b="1" baseline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327074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82C695-2A8D-CACD-04B0-9DF8B8E427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Chart 1">
            <a:extLst>
              <a:ext uri="{FF2B5EF4-FFF2-40B4-BE49-F238E27FC236}">
                <a16:creationId xmlns:a16="http://schemas.microsoft.com/office/drawing/2014/main" id="{4C021443-9A69-49B8-ABB3-073F0F79E60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100184566"/>
              </p:ext>
            </p:extLst>
          </p:nvPr>
        </p:nvGraphicFramePr>
        <p:xfrm>
          <a:off x="1738314" y="2057399"/>
          <a:ext cx="2828925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3" name="Chart 2">
            <a:extLst>
              <a:ext uri="{FF2B5EF4-FFF2-40B4-BE49-F238E27FC236}">
                <a16:creationId xmlns:a16="http://schemas.microsoft.com/office/drawing/2014/main" id="{41E193B9-A46F-4A78-84AD-F8E084303B1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8635562"/>
              </p:ext>
            </p:extLst>
          </p:nvPr>
        </p:nvGraphicFramePr>
        <p:xfrm>
          <a:off x="4681538" y="2057400"/>
          <a:ext cx="2828925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4" name="Chart 3">
            <a:extLst>
              <a:ext uri="{FF2B5EF4-FFF2-40B4-BE49-F238E27FC236}">
                <a16:creationId xmlns:a16="http://schemas.microsoft.com/office/drawing/2014/main" id="{CE8C7F81-3298-4FA6-8522-8BB48FD6E89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421075117"/>
              </p:ext>
            </p:extLst>
          </p:nvPr>
        </p:nvGraphicFramePr>
        <p:xfrm>
          <a:off x="7624762" y="2062162"/>
          <a:ext cx="2828925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6" name="TextBox 4">
            <a:extLst>
              <a:ext uri="{FF2B5EF4-FFF2-40B4-BE49-F238E27FC236}">
                <a16:creationId xmlns:a16="http://schemas.microsoft.com/office/drawing/2014/main" id="{4BC35901-8A4C-3286-2A82-C6F5C4F8A3CB}"/>
              </a:ext>
            </a:extLst>
          </p:cNvPr>
          <p:cNvSpPr txBox="1"/>
          <p:nvPr/>
        </p:nvSpPr>
        <p:spPr>
          <a:xfrm>
            <a:off x="1728788" y="1918899"/>
            <a:ext cx="1091966" cy="276999"/>
          </a:xfrm>
          <a:prstGeom prst="rect">
            <a:avLst/>
          </a:prstGeom>
          <a:noFill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wrap="none" rtlCol="0" anchor="t">
            <a:spAutoFit/>
          </a:bodyPr>
          <a:lstStyle>
            <a:lvl1pPr marL="0" indent="0">
              <a:defRPr sz="11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b="1">
                <a:latin typeface="Roboto" panose="02000000000000000000" pitchFamily="2" charset="0"/>
                <a:ea typeface="Roboto" panose="02000000000000000000" pitchFamily="2" charset="0"/>
              </a:rPr>
              <a:t>Single</a:t>
            </a:r>
            <a:r>
              <a:rPr lang="en-US" sz="1200" b="1" baseline="0">
                <a:latin typeface="Roboto" panose="02000000000000000000" pitchFamily="2" charset="0"/>
                <a:ea typeface="Roboto" panose="02000000000000000000" pitchFamily="2" charset="0"/>
              </a:rPr>
              <a:t> Series</a:t>
            </a:r>
          </a:p>
        </p:txBody>
      </p:sp>
      <p:sp>
        <p:nvSpPr>
          <p:cNvPr id="8" name="TextBox 4">
            <a:extLst>
              <a:ext uri="{FF2B5EF4-FFF2-40B4-BE49-F238E27FC236}">
                <a16:creationId xmlns:a16="http://schemas.microsoft.com/office/drawing/2014/main" id="{0DD9FC31-DC5F-4D62-8F37-AA3CD79A5B8A}"/>
              </a:ext>
            </a:extLst>
          </p:cNvPr>
          <p:cNvSpPr txBox="1"/>
          <p:nvPr/>
        </p:nvSpPr>
        <p:spPr>
          <a:xfrm>
            <a:off x="4662489" y="1918899"/>
            <a:ext cx="949299" cy="276999"/>
          </a:xfrm>
          <a:prstGeom prst="rect">
            <a:avLst/>
          </a:prstGeom>
          <a:noFill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wrap="none" rtlCol="0" anchor="t">
            <a:spAutoFit/>
          </a:bodyPr>
          <a:lstStyle>
            <a:lvl1pPr marL="0" indent="0">
              <a:defRPr sz="11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b="1">
                <a:latin typeface="Roboto" panose="02000000000000000000" pitchFamily="2" charset="0"/>
                <a:ea typeface="Roboto" panose="02000000000000000000" pitchFamily="2" charset="0"/>
              </a:rPr>
              <a:t>Two</a:t>
            </a:r>
            <a:r>
              <a:rPr lang="en-US" sz="1200" b="1" baseline="0">
                <a:latin typeface="Roboto" panose="02000000000000000000" pitchFamily="2" charset="0"/>
                <a:ea typeface="Roboto" panose="02000000000000000000" pitchFamily="2" charset="0"/>
              </a:rPr>
              <a:t> Series</a:t>
            </a:r>
          </a:p>
        </p:txBody>
      </p:sp>
      <p:sp>
        <p:nvSpPr>
          <p:cNvPr id="9" name="TextBox 4">
            <a:extLst>
              <a:ext uri="{FF2B5EF4-FFF2-40B4-BE49-F238E27FC236}">
                <a16:creationId xmlns:a16="http://schemas.microsoft.com/office/drawing/2014/main" id="{91FABB6B-88D9-2245-6885-9BA29AA5F7C2}"/>
              </a:ext>
            </a:extLst>
          </p:cNvPr>
          <p:cNvSpPr txBox="1"/>
          <p:nvPr/>
        </p:nvSpPr>
        <p:spPr>
          <a:xfrm>
            <a:off x="7615237" y="1918899"/>
            <a:ext cx="1223412" cy="276999"/>
          </a:xfrm>
          <a:prstGeom prst="rect">
            <a:avLst/>
          </a:prstGeom>
          <a:noFill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wrap="none" rtlCol="0" anchor="t">
            <a:spAutoFit/>
          </a:bodyPr>
          <a:lstStyle>
            <a:lvl1pPr marL="0" indent="0">
              <a:defRPr sz="11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b="1">
                <a:latin typeface="Roboto" panose="02000000000000000000" pitchFamily="2" charset="0"/>
                <a:ea typeface="Roboto" panose="02000000000000000000" pitchFamily="2" charset="0"/>
              </a:rPr>
              <a:t>Multiple</a:t>
            </a:r>
            <a:r>
              <a:rPr lang="en-US" sz="1200" b="1" baseline="0">
                <a:latin typeface="Roboto" panose="02000000000000000000" pitchFamily="2" charset="0"/>
                <a:ea typeface="Roboto" panose="02000000000000000000" pitchFamily="2" charset="0"/>
              </a:rPr>
              <a:t> Series</a:t>
            </a:r>
          </a:p>
        </p:txBody>
      </p:sp>
    </p:spTree>
    <p:extLst>
      <p:ext uri="{BB962C8B-B14F-4D97-AF65-F5344CB8AC3E}">
        <p14:creationId xmlns:p14="http://schemas.microsoft.com/office/powerpoint/2010/main" val="5970923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Chart 3">
            <a:extLst>
              <a:ext uri="{FF2B5EF4-FFF2-40B4-BE49-F238E27FC236}">
                <a16:creationId xmlns:a16="http://schemas.microsoft.com/office/drawing/2014/main" id="{D15EA3B0-1C20-317F-8910-F7660EF2C32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331365889"/>
              </p:ext>
            </p:extLst>
          </p:nvPr>
        </p:nvGraphicFramePr>
        <p:xfrm>
          <a:off x="3810000" y="2278856"/>
          <a:ext cx="4572000" cy="230028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181BB326-AEF9-8110-903A-4987F7FECE4A}"/>
              </a:ext>
            </a:extLst>
          </p:cNvPr>
          <p:cNvSpPr txBox="1"/>
          <p:nvPr/>
        </p:nvSpPr>
        <p:spPr>
          <a:xfrm>
            <a:off x="4608564" y="4452186"/>
            <a:ext cx="3874779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b="1">
                <a:solidFill>
                  <a:schemeClr val="bg1">
                    <a:lumMod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Strongly Disagree </a:t>
            </a:r>
            <a:r>
              <a:rPr lang="en-US" sz="1000">
                <a:latin typeface="Roboto" panose="02000000000000000000" pitchFamily="2" charset="0"/>
                <a:ea typeface="Roboto" panose="02000000000000000000" pitchFamily="2" charset="0"/>
              </a:rPr>
              <a:t>| </a:t>
            </a:r>
            <a:r>
              <a:rPr lang="en-US" sz="1000" b="1">
                <a:solidFill>
                  <a:schemeClr val="bg1">
                    <a:lumMod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Disagree</a:t>
            </a:r>
            <a:r>
              <a:rPr lang="en-US" sz="1000">
                <a:latin typeface="Roboto" panose="02000000000000000000" pitchFamily="2" charset="0"/>
                <a:ea typeface="Roboto" panose="02000000000000000000" pitchFamily="2" charset="0"/>
              </a:rPr>
              <a:t> | </a:t>
            </a:r>
            <a:r>
              <a:rPr lang="en-US" sz="1000" b="1">
                <a:solidFill>
                  <a:schemeClr val="bg1">
                    <a:lumMod val="6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Neutral</a:t>
            </a:r>
            <a:r>
              <a:rPr lang="en-US" sz="1000">
                <a:latin typeface="Roboto" panose="02000000000000000000" pitchFamily="2" charset="0"/>
                <a:ea typeface="Roboto" panose="02000000000000000000" pitchFamily="2" charset="0"/>
              </a:rPr>
              <a:t> | </a:t>
            </a:r>
            <a:r>
              <a:rPr lang="en-US" sz="1000" b="1">
                <a:solidFill>
                  <a:srgbClr val="0D1A6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Agree</a:t>
            </a:r>
            <a:r>
              <a:rPr lang="en-US" sz="1000">
                <a:latin typeface="Roboto" panose="02000000000000000000" pitchFamily="2" charset="0"/>
                <a:ea typeface="Roboto" panose="02000000000000000000" pitchFamily="2" charset="0"/>
              </a:rPr>
              <a:t> | </a:t>
            </a:r>
            <a:r>
              <a:rPr lang="en-US" sz="1000" b="1">
                <a:solidFill>
                  <a:srgbClr val="0D1A6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Strongly Agree</a:t>
            </a:r>
          </a:p>
        </p:txBody>
      </p:sp>
      <p:sp>
        <p:nvSpPr>
          <p:cNvPr id="6" name="TextBox 4">
            <a:extLst>
              <a:ext uri="{FF2B5EF4-FFF2-40B4-BE49-F238E27FC236}">
                <a16:creationId xmlns:a16="http://schemas.microsoft.com/office/drawing/2014/main" id="{71045123-A720-057E-CD38-3AF9104D08B6}"/>
              </a:ext>
            </a:extLst>
          </p:cNvPr>
          <p:cNvSpPr txBox="1"/>
          <p:nvPr/>
        </p:nvSpPr>
        <p:spPr>
          <a:xfrm>
            <a:off x="3810000" y="2049482"/>
            <a:ext cx="1215397" cy="276999"/>
          </a:xfrm>
          <a:prstGeom prst="rect">
            <a:avLst/>
          </a:prstGeom>
          <a:noFill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wrap="none" rtlCol="0" anchor="t">
            <a:spAutoFit/>
          </a:bodyPr>
          <a:lstStyle>
            <a:lvl1pPr marL="0" indent="0">
              <a:defRPr sz="11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b="1">
                <a:solidFill>
                  <a:srgbClr val="0D1A6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Survey Results</a:t>
            </a:r>
            <a:endParaRPr lang="en-US" sz="1200" b="1" baseline="0">
              <a:solidFill>
                <a:srgbClr val="0D1A63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2162435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Chart 3">
            <a:extLst>
              <a:ext uri="{FF2B5EF4-FFF2-40B4-BE49-F238E27FC236}">
                <a16:creationId xmlns:a16="http://schemas.microsoft.com/office/drawing/2014/main" id="{E33692BF-8A39-104D-3CF7-B05B0694568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035315571"/>
              </p:ext>
            </p:extLst>
          </p:nvPr>
        </p:nvGraphicFramePr>
        <p:xfrm>
          <a:off x="4467224" y="2359817"/>
          <a:ext cx="3186113" cy="27527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71045123-A720-057E-CD38-3AF9104D08B6}"/>
              </a:ext>
            </a:extLst>
          </p:cNvPr>
          <p:cNvSpPr txBox="1"/>
          <p:nvPr/>
        </p:nvSpPr>
        <p:spPr>
          <a:xfrm>
            <a:off x="4679156" y="1754981"/>
            <a:ext cx="2762250" cy="461665"/>
          </a:xfrm>
          <a:prstGeom prst="rect">
            <a:avLst/>
          </a:prstGeom>
          <a:noFill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wrap="square" rtlCol="0" anchor="t">
            <a:spAutoFit/>
          </a:bodyPr>
          <a:lstStyle>
            <a:defPPr>
              <a:defRPr lang="en-US"/>
            </a:defPPr>
            <a:lvl1pPr marL="0" indent="0" algn="l" defTabSz="914400" rtl="0" eaLnBrk="1" latinLnBrk="0" hangingPunct="1"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b="1" baseline="0">
                <a:solidFill>
                  <a:srgbClr val="F68048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86% </a:t>
            </a:r>
            <a:r>
              <a:rPr lang="en-US" sz="1200" b="0" baseline="0">
                <a:solidFill>
                  <a:srgbClr val="0D1A6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OF OUR STUDENTS PASS THE DRIVING TEST IN </a:t>
            </a:r>
            <a:r>
              <a:rPr lang="en-US" sz="1200" b="1" baseline="0">
                <a:solidFill>
                  <a:srgbClr val="F68048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ONE ATTEMPT</a:t>
            </a:r>
          </a:p>
        </p:txBody>
      </p:sp>
      <p:sp>
        <p:nvSpPr>
          <p:cNvPr id="6" name="TextBox 4">
            <a:extLst>
              <a:ext uri="{FF2B5EF4-FFF2-40B4-BE49-F238E27FC236}">
                <a16:creationId xmlns:a16="http://schemas.microsoft.com/office/drawing/2014/main" id="{216A4143-F1D4-4BE9-BA14-C99089E389CB}"/>
              </a:ext>
            </a:extLst>
          </p:cNvPr>
          <p:cNvSpPr txBox="1"/>
          <p:nvPr/>
        </p:nvSpPr>
        <p:spPr>
          <a:xfrm>
            <a:off x="4669631" y="2135981"/>
            <a:ext cx="3105150" cy="276999"/>
          </a:xfrm>
          <a:prstGeom prst="rect">
            <a:avLst/>
          </a:prstGeom>
          <a:noFill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wrap="square" rtlCol="0" anchor="t">
            <a:spAutoFit/>
          </a:bodyPr>
          <a:lstStyle>
            <a:defPPr>
              <a:defRPr lang="en-US"/>
            </a:defPPr>
            <a:lvl1pPr marL="0" indent="0" algn="l" defTabSz="914400" rtl="0" eaLnBrk="1" latinLnBrk="0" hangingPunct="1"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b="0" i="1" baseline="0">
                <a:solidFill>
                  <a:schemeClr val="tx1">
                    <a:lumMod val="65000"/>
                    <a:lumOff val="3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Driving test passed by number of attempts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672E1D4-0746-AA60-7F89-1CB5B3ACD5B9}"/>
              </a:ext>
            </a:extLst>
          </p:cNvPr>
          <p:cNvSpPr txBox="1"/>
          <p:nvPr/>
        </p:nvSpPr>
        <p:spPr>
          <a:xfrm>
            <a:off x="4673824" y="4989432"/>
            <a:ext cx="271099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b="1">
                <a:solidFill>
                  <a:schemeClr val="bg1">
                    <a:lumMod val="6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3 attempts or more | </a:t>
            </a:r>
            <a:r>
              <a:rPr lang="en-US" sz="1000" b="1">
                <a:solidFill>
                  <a:schemeClr val="bg1">
                    <a:lumMod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2 attemps </a:t>
            </a:r>
            <a:r>
              <a:rPr lang="en-US" sz="1000">
                <a:latin typeface="Roboto" panose="02000000000000000000" pitchFamily="2" charset="0"/>
                <a:ea typeface="Roboto" panose="02000000000000000000" pitchFamily="2" charset="0"/>
              </a:rPr>
              <a:t>| </a:t>
            </a:r>
            <a:r>
              <a:rPr lang="en-US" sz="1000" b="1">
                <a:solidFill>
                  <a:srgbClr val="0D1A6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one attemp</a:t>
            </a:r>
          </a:p>
        </p:txBody>
      </p:sp>
      <p:sp>
        <p:nvSpPr>
          <p:cNvPr id="10" name="TextBox 4">
            <a:extLst>
              <a:ext uri="{FF2B5EF4-FFF2-40B4-BE49-F238E27FC236}">
                <a16:creationId xmlns:a16="http://schemas.microsoft.com/office/drawing/2014/main" id="{8E4CC140-240F-4B0E-9749-3181742CEFFC}"/>
              </a:ext>
            </a:extLst>
          </p:cNvPr>
          <p:cNvSpPr txBox="1"/>
          <p:nvPr/>
        </p:nvSpPr>
        <p:spPr>
          <a:xfrm>
            <a:off x="5649515" y="3954474"/>
            <a:ext cx="873919" cy="523285"/>
          </a:xfrm>
          <a:prstGeom prst="rect">
            <a:avLst/>
          </a:prstGeom>
          <a:noFill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wrap="square" rtlCol="0" anchor="t">
            <a:spAutoFit/>
          </a:bodyPr>
          <a:lstStyle>
            <a:defPPr>
              <a:defRPr lang="en-US"/>
            </a:defPPr>
            <a:lvl1pPr marL="0" indent="0" algn="l" defTabSz="914400" rtl="0" eaLnBrk="1" latinLnBrk="0" hangingPunct="1"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b="1" baseline="0">
                <a:solidFill>
                  <a:srgbClr val="0D1A6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86%</a:t>
            </a:r>
          </a:p>
        </p:txBody>
      </p:sp>
    </p:spTree>
    <p:extLst>
      <p:ext uri="{BB962C8B-B14F-4D97-AF65-F5344CB8AC3E}">
        <p14:creationId xmlns:p14="http://schemas.microsoft.com/office/powerpoint/2010/main" val="2378123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Chart 8">
            <a:extLst>
              <a:ext uri="{FF2B5EF4-FFF2-40B4-BE49-F238E27FC236}">
                <a16:creationId xmlns:a16="http://schemas.microsoft.com/office/drawing/2014/main" id="{E33692BF-8A39-104D-3CF7-B05B0694568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154792920"/>
              </p:ext>
            </p:extLst>
          </p:nvPr>
        </p:nvGraphicFramePr>
        <p:xfrm>
          <a:off x="4436266" y="2340767"/>
          <a:ext cx="3186113" cy="27527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A25BE4A3-73F9-F4D2-7093-E74BDABA4DB0}"/>
              </a:ext>
            </a:extLst>
          </p:cNvPr>
          <p:cNvSpPr txBox="1"/>
          <p:nvPr/>
        </p:nvSpPr>
        <p:spPr>
          <a:xfrm>
            <a:off x="4679156" y="1754981"/>
            <a:ext cx="2762250" cy="461665"/>
          </a:xfrm>
          <a:prstGeom prst="rect">
            <a:avLst/>
          </a:prstGeom>
          <a:noFill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wrap="square" rtlCol="0" anchor="t">
            <a:spAutoFit/>
          </a:bodyPr>
          <a:lstStyle>
            <a:defPPr>
              <a:defRPr lang="en-US"/>
            </a:defPPr>
            <a:lvl1pPr marL="0" indent="0" algn="l" defTabSz="914400" rtl="0" eaLnBrk="1" latinLnBrk="0" hangingPunct="1"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b="1" baseline="0">
                <a:solidFill>
                  <a:srgbClr val="F68048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86% </a:t>
            </a:r>
            <a:r>
              <a:rPr lang="en-US" sz="1200" b="0" baseline="0">
                <a:solidFill>
                  <a:srgbClr val="0D1A6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OF OUR STUDENTS PASS THE DRIVING TEST IN </a:t>
            </a:r>
            <a:r>
              <a:rPr lang="en-US" sz="1200" b="1" baseline="0">
                <a:solidFill>
                  <a:srgbClr val="F68048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ONE ATTEMPT</a:t>
            </a:r>
          </a:p>
        </p:txBody>
      </p:sp>
      <p:sp>
        <p:nvSpPr>
          <p:cNvPr id="6" name="TextBox 4">
            <a:extLst>
              <a:ext uri="{FF2B5EF4-FFF2-40B4-BE49-F238E27FC236}">
                <a16:creationId xmlns:a16="http://schemas.microsoft.com/office/drawing/2014/main" id="{CAC3CBAC-F893-82F1-0E69-21A229EB7944}"/>
              </a:ext>
            </a:extLst>
          </p:cNvPr>
          <p:cNvSpPr txBox="1"/>
          <p:nvPr/>
        </p:nvSpPr>
        <p:spPr>
          <a:xfrm>
            <a:off x="4669631" y="2135981"/>
            <a:ext cx="3105150" cy="276999"/>
          </a:xfrm>
          <a:prstGeom prst="rect">
            <a:avLst/>
          </a:prstGeom>
          <a:noFill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wrap="square" rtlCol="0" anchor="t">
            <a:spAutoFit/>
          </a:bodyPr>
          <a:lstStyle>
            <a:defPPr>
              <a:defRPr lang="en-US"/>
            </a:defPPr>
            <a:lvl1pPr marL="0" indent="0" algn="l" defTabSz="914400" rtl="0" eaLnBrk="1" latinLnBrk="0" hangingPunct="1"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b="0" i="1" baseline="0">
                <a:solidFill>
                  <a:schemeClr val="tx1">
                    <a:lumMod val="65000"/>
                    <a:lumOff val="3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Driving test passed by number of attempts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8FA89C5-5AAF-2EB6-D584-A517F90DD02F}"/>
              </a:ext>
            </a:extLst>
          </p:cNvPr>
          <p:cNvSpPr txBox="1"/>
          <p:nvPr/>
        </p:nvSpPr>
        <p:spPr>
          <a:xfrm>
            <a:off x="4673824" y="4989432"/>
            <a:ext cx="271099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b="1">
                <a:solidFill>
                  <a:schemeClr val="bg1">
                    <a:lumMod val="6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3 attempts or more | </a:t>
            </a:r>
            <a:r>
              <a:rPr lang="en-US" sz="1000" b="1">
                <a:solidFill>
                  <a:schemeClr val="bg1">
                    <a:lumMod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2 attemps </a:t>
            </a:r>
            <a:r>
              <a:rPr lang="en-US" sz="1000">
                <a:latin typeface="Roboto" panose="02000000000000000000" pitchFamily="2" charset="0"/>
                <a:ea typeface="Roboto" panose="02000000000000000000" pitchFamily="2" charset="0"/>
              </a:rPr>
              <a:t>| </a:t>
            </a:r>
            <a:r>
              <a:rPr lang="en-US" sz="1000" b="1">
                <a:solidFill>
                  <a:srgbClr val="0D1A6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one attemp</a:t>
            </a:r>
          </a:p>
        </p:txBody>
      </p:sp>
      <p:sp>
        <p:nvSpPr>
          <p:cNvPr id="8" name="TextBox 4">
            <a:extLst>
              <a:ext uri="{FF2B5EF4-FFF2-40B4-BE49-F238E27FC236}">
                <a16:creationId xmlns:a16="http://schemas.microsoft.com/office/drawing/2014/main" id="{F3935FAE-D4DA-5B7E-39F6-DD6F9ADC82C1}"/>
              </a:ext>
            </a:extLst>
          </p:cNvPr>
          <p:cNvSpPr txBox="1"/>
          <p:nvPr/>
        </p:nvSpPr>
        <p:spPr>
          <a:xfrm>
            <a:off x="5642371" y="3501118"/>
            <a:ext cx="873919" cy="523285"/>
          </a:xfrm>
          <a:prstGeom prst="rect">
            <a:avLst/>
          </a:prstGeom>
          <a:noFill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wrap="square" rtlCol="0" anchor="t">
            <a:spAutoFit/>
          </a:bodyPr>
          <a:lstStyle>
            <a:defPPr>
              <a:defRPr lang="en-US"/>
            </a:defPPr>
            <a:lvl1pPr marL="0" indent="0" algn="l" defTabSz="914400" rtl="0" eaLnBrk="1" latinLnBrk="0" hangingPunct="1"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b="1" i="1" baseline="0">
                <a:solidFill>
                  <a:srgbClr val="0D1A6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86%</a:t>
            </a:r>
          </a:p>
        </p:txBody>
      </p:sp>
    </p:spTree>
    <p:extLst>
      <p:ext uri="{BB962C8B-B14F-4D97-AF65-F5344CB8AC3E}">
        <p14:creationId xmlns:p14="http://schemas.microsoft.com/office/powerpoint/2010/main" val="2548175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51804C9A-B5B4-2E4B-001C-C3FF000E23CF}"/>
              </a:ext>
            </a:extLst>
          </p:cNvPr>
          <p:cNvSpPr txBox="1"/>
          <p:nvPr/>
        </p:nvSpPr>
        <p:spPr>
          <a:xfrm>
            <a:off x="4679156" y="1754981"/>
            <a:ext cx="2762250" cy="461665"/>
          </a:xfrm>
          <a:prstGeom prst="rect">
            <a:avLst/>
          </a:prstGeom>
          <a:noFill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wrap="square" rtlCol="0" anchor="t">
            <a:spAutoFit/>
          </a:bodyPr>
          <a:lstStyle>
            <a:defPPr>
              <a:defRPr lang="en-US"/>
            </a:defPPr>
            <a:lvl1pPr marL="0" indent="0" algn="l" defTabSz="914400" rtl="0" eaLnBrk="1" latinLnBrk="0" hangingPunct="1"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b="1" baseline="0">
                <a:solidFill>
                  <a:srgbClr val="F68048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86% </a:t>
            </a:r>
            <a:r>
              <a:rPr lang="en-US" sz="1200" b="0" baseline="0">
                <a:solidFill>
                  <a:srgbClr val="0D1A63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OF OUR STUDENTS PASS THE DRIVING TEST IN </a:t>
            </a:r>
            <a:r>
              <a:rPr lang="en-US" sz="1200" b="1" baseline="0">
                <a:solidFill>
                  <a:srgbClr val="F68048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ONE ATTEMPT</a:t>
            </a:r>
          </a:p>
        </p:txBody>
      </p:sp>
      <p:sp>
        <p:nvSpPr>
          <p:cNvPr id="6" name="TextBox 4">
            <a:extLst>
              <a:ext uri="{FF2B5EF4-FFF2-40B4-BE49-F238E27FC236}">
                <a16:creationId xmlns:a16="http://schemas.microsoft.com/office/drawing/2014/main" id="{2A6501B4-CF78-F294-6885-4E7F366097C8}"/>
              </a:ext>
            </a:extLst>
          </p:cNvPr>
          <p:cNvSpPr txBox="1"/>
          <p:nvPr/>
        </p:nvSpPr>
        <p:spPr>
          <a:xfrm>
            <a:off x="4698206" y="2135981"/>
            <a:ext cx="3105150" cy="276999"/>
          </a:xfrm>
          <a:prstGeom prst="rect">
            <a:avLst/>
          </a:prstGeom>
          <a:noFill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wrap="square" rtlCol="0" anchor="t">
            <a:spAutoFit/>
          </a:bodyPr>
          <a:lstStyle>
            <a:defPPr>
              <a:defRPr lang="en-US"/>
            </a:defPPr>
            <a:lvl1pPr marL="0" indent="0" algn="l" defTabSz="914400" rtl="0" eaLnBrk="1" latinLnBrk="0" hangingPunct="1"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b="0" i="1" baseline="0">
                <a:solidFill>
                  <a:schemeClr val="tx1">
                    <a:lumMod val="65000"/>
                    <a:lumOff val="3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Driving test passed by number of attempts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07CE660-F881-F12B-9AE9-6FC5B4FB1F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2102" y="2443760"/>
            <a:ext cx="3529250" cy="21975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86584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5AE603E0-6798-424A-95FF-8CD988D34541}">
  <we:reference id="wa200010001" version="1.0.0.1" store="en-US" storeType="OMEX"/>
  <we:alternateReferences>
    <we:reference id="WA200010001" version="1.0.0.1" store="WA200010001" storeType="OMEX"/>
  </we:alternateReferences>
  <we:properties>
    <we:property name="claude.fileId" value="&quot;18f22713-9557-4dff-b5f2-674ff2ee737a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3527</TotalTime>
  <Words>220</Words>
  <Application>Microsoft Office PowerPoint</Application>
  <PresentationFormat>Widescreen</PresentationFormat>
  <Paragraphs>80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Arial</vt:lpstr>
      <vt:lpstr>Calibri</vt:lpstr>
      <vt:lpstr>Calibri Light</vt:lpstr>
      <vt:lpstr>Roboto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Phat Pham</dc:creator>
  <cp:lastModifiedBy>Phat Pham</cp:lastModifiedBy>
  <cp:revision>6</cp:revision>
  <dcterms:created xsi:type="dcterms:W3CDTF">2026-05-21T17:00:39Z</dcterms:created>
  <dcterms:modified xsi:type="dcterms:W3CDTF">2026-05-25T14:24:10Z</dcterms:modified>
</cp:coreProperties>
</file>